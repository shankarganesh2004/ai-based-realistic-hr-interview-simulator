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5" r:id="rId22"/>
    <p:sldId id="27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0F3644-C2BB-4D78-9D02-79CCC6A84A22}"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2655050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0F3644-C2BB-4D78-9D02-79CCC6A84A22}"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1272346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0F3644-C2BB-4D78-9D02-79CCC6A84A22}"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78294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0F3644-C2BB-4D78-9D02-79CCC6A84A22}"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2419032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0F3644-C2BB-4D78-9D02-79CCC6A84A22}" type="datetimeFigureOut">
              <a:rPr lang="en-IN" smtClean="0"/>
              <a:t>02-04-2026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2880465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0F3644-C2BB-4D78-9D02-79CCC6A84A22}" type="datetimeFigureOut">
              <a:rPr lang="en-IN" smtClean="0"/>
              <a:t>02-04-2026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2878551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0F3644-C2BB-4D78-9D02-79CCC6A84A22}" type="datetimeFigureOut">
              <a:rPr lang="en-IN" smtClean="0"/>
              <a:t>02-04-2026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2511415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0F3644-C2BB-4D78-9D02-79CCC6A84A22}"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918235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0F3644-C2BB-4D78-9D02-79CCC6A84A22}"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478375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0F3644-C2BB-4D78-9D02-79CCC6A84A22}"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3191571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0F3644-C2BB-4D78-9D02-79CCC6A84A22}"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37052195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0F3644-C2BB-4D78-9D02-79CCC6A84A22}"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097CDC-405C-4301-9EAF-9118457EE1FD}"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86104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0F3644-C2BB-4D78-9D02-79CCC6A84A22}"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346830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70F3644-C2BB-4D78-9D02-79CCC6A84A22}" type="datetimeFigureOut">
              <a:rPr lang="en-IN" smtClean="0"/>
              <a:t>02-04-2026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591623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70F3644-C2BB-4D78-9D02-79CCC6A84A22}" type="datetimeFigureOut">
              <a:rPr lang="en-IN" smtClean="0"/>
              <a:t>02-04-2026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1962119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0F3644-C2BB-4D78-9D02-79CCC6A84A22}"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983833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0F3644-C2BB-4D78-9D02-79CCC6A84A22}"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097CDC-405C-4301-9EAF-9118457EE1FD}" type="slidenum">
              <a:rPr lang="en-IN" smtClean="0"/>
              <a:t>‹#›</a:t>
            </a:fld>
            <a:endParaRPr lang="en-IN"/>
          </a:p>
        </p:txBody>
      </p:sp>
    </p:spTree>
    <p:extLst>
      <p:ext uri="{BB962C8B-B14F-4D97-AF65-F5344CB8AC3E}">
        <p14:creationId xmlns:p14="http://schemas.microsoft.com/office/powerpoint/2010/main" val="3383627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070F3644-C2BB-4D78-9D02-79CCC6A84A22}" type="datetimeFigureOut">
              <a:rPr lang="en-IN" smtClean="0"/>
              <a:t>02-04-2026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C097CDC-405C-4301-9EAF-9118457EE1FD}" type="slidenum">
              <a:rPr lang="en-IN" smtClean="0"/>
              <a:t>‹#›</a:t>
            </a:fld>
            <a:endParaRPr lang="en-IN"/>
          </a:p>
        </p:txBody>
      </p:sp>
    </p:spTree>
    <p:extLst>
      <p:ext uri="{BB962C8B-B14F-4D97-AF65-F5344CB8AC3E}">
        <p14:creationId xmlns:p14="http://schemas.microsoft.com/office/powerpoint/2010/main" val="362320591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98D12-D0D5-7630-C2CC-A3CCADD0E24C}"/>
              </a:ext>
            </a:extLst>
          </p:cNvPr>
          <p:cNvSpPr>
            <a:spLocks noGrp="1"/>
          </p:cNvSpPr>
          <p:nvPr>
            <p:ph type="ctrTitle"/>
          </p:nvPr>
        </p:nvSpPr>
        <p:spPr/>
        <p:txBody>
          <a:bodyPr>
            <a:normAutofit/>
          </a:bodyPr>
          <a:lstStyle/>
          <a:p>
            <a:r>
              <a:rPr lang="en-US" dirty="0">
                <a:latin typeface="Times New Roman" panose="02020603050405020304" pitchFamily="18" charset="0"/>
                <a:ea typeface="STXinwei" panose="02010800040101010101" pitchFamily="2" charset="-122"/>
                <a:cs typeface="Times New Roman" panose="02020603050405020304" pitchFamily="18" charset="0"/>
              </a:rPr>
              <a:t>AI-Based Realistic HR Interview Simulator</a:t>
            </a:r>
            <a:br>
              <a:rPr lang="en-US" dirty="0">
                <a:latin typeface="Times New Roman" panose="02020603050405020304" pitchFamily="18" charset="0"/>
                <a:ea typeface="STXinwei" panose="02010800040101010101" pitchFamily="2" charset="-122"/>
                <a:cs typeface="Times New Roman" panose="02020603050405020304" pitchFamily="18" charset="0"/>
              </a:rPr>
            </a:br>
            <a:endParaRPr lang="en-IN" dirty="0">
              <a:latin typeface="Times New Roman" panose="02020603050405020304" pitchFamily="18" charset="0"/>
              <a:ea typeface="STXinwei" panose="02010800040101010101" pitchFamily="2" charset="-122"/>
              <a:cs typeface="Times New Roman" panose="02020603050405020304" pitchFamily="18" charset="0"/>
            </a:endParaRPr>
          </a:p>
        </p:txBody>
      </p:sp>
      <p:sp>
        <p:nvSpPr>
          <p:cNvPr id="4" name="TextBox 3">
            <a:extLst>
              <a:ext uri="{FF2B5EF4-FFF2-40B4-BE49-F238E27FC236}">
                <a16:creationId xmlns:a16="http://schemas.microsoft.com/office/drawing/2014/main" id="{50B5430F-C785-CC81-6918-AC63CD4AF237}"/>
              </a:ext>
            </a:extLst>
          </p:cNvPr>
          <p:cNvSpPr txBox="1"/>
          <p:nvPr/>
        </p:nvSpPr>
        <p:spPr>
          <a:xfrm>
            <a:off x="1426464" y="3749040"/>
            <a:ext cx="3218688"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Project Guide:</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Mr.B.Kishore</a:t>
            </a:r>
            <a:r>
              <a:rPr lang="en-US" dirty="0">
                <a:latin typeface="Times New Roman" panose="02020603050405020304" pitchFamily="18" charset="0"/>
                <a:cs typeface="Times New Roman" panose="02020603050405020304" pitchFamily="18" charset="0"/>
              </a:rPr>
              <a:t> Babu </a:t>
            </a:r>
          </a:p>
          <a:p>
            <a:r>
              <a:rPr lang="en-US" dirty="0">
                <a:latin typeface="Times New Roman" panose="02020603050405020304" pitchFamily="18" charset="0"/>
                <a:cs typeface="Times New Roman" panose="02020603050405020304" pitchFamily="18" charset="0"/>
              </a:rPr>
              <a:t>                               Asst. Prof</a:t>
            </a:r>
          </a:p>
          <a:p>
            <a:endParaRPr lang="en-IN" dirty="0"/>
          </a:p>
        </p:txBody>
      </p:sp>
      <p:sp>
        <p:nvSpPr>
          <p:cNvPr id="5" name="TextBox 4">
            <a:extLst>
              <a:ext uri="{FF2B5EF4-FFF2-40B4-BE49-F238E27FC236}">
                <a16:creationId xmlns:a16="http://schemas.microsoft.com/office/drawing/2014/main" id="{B6518F01-8C3E-CB36-06D5-96AECD6C76C3}"/>
              </a:ext>
            </a:extLst>
          </p:cNvPr>
          <p:cNvSpPr txBox="1"/>
          <p:nvPr/>
        </p:nvSpPr>
        <p:spPr>
          <a:xfrm>
            <a:off x="7333488" y="3639312"/>
            <a:ext cx="4050792" cy="2031325"/>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Batch: CM05</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K. Harsha vardhan(Y22ACM446)</a:t>
            </a:r>
          </a:p>
          <a:p>
            <a:r>
              <a:rPr lang="en-IN" dirty="0">
                <a:latin typeface="Times New Roman" panose="02020603050405020304" pitchFamily="18" charset="0"/>
                <a:cs typeface="Times New Roman" panose="02020603050405020304" pitchFamily="18" charset="0"/>
              </a:rPr>
              <a:t>B. Beaulah Angel(Y22ACM412)</a:t>
            </a:r>
          </a:p>
          <a:p>
            <a:r>
              <a:rPr lang="en-IN" dirty="0">
                <a:latin typeface="Times New Roman" panose="02020603050405020304" pitchFamily="18" charset="0"/>
                <a:cs typeface="Times New Roman" panose="02020603050405020304" pitchFamily="18" charset="0"/>
              </a:rPr>
              <a:t>D. Hemanth(Y22ACM421)</a:t>
            </a:r>
          </a:p>
          <a:p>
            <a:r>
              <a:rPr lang="en-IN" dirty="0">
                <a:latin typeface="Times New Roman" panose="02020603050405020304" pitchFamily="18" charset="0"/>
                <a:cs typeface="Times New Roman" panose="02020603050405020304" pitchFamily="18" charset="0"/>
              </a:rPr>
              <a:t>D. Venkata Sanjay(Y22ACM422)</a:t>
            </a:r>
          </a:p>
          <a:p>
            <a:endParaRPr lang="en-IN" dirty="0"/>
          </a:p>
        </p:txBody>
      </p:sp>
    </p:spTree>
    <p:extLst>
      <p:ext uri="{BB962C8B-B14F-4D97-AF65-F5344CB8AC3E}">
        <p14:creationId xmlns:p14="http://schemas.microsoft.com/office/powerpoint/2010/main" val="2537567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679D6-3B9E-BAF6-7178-FB19321DA398}"/>
              </a:ext>
            </a:extLst>
          </p:cNvPr>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DE014A35-5A12-1CDC-0838-96665871833A}"/>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Abstract</a:t>
            </a:r>
          </a:p>
          <a:p>
            <a:r>
              <a:rPr lang="en-IN" dirty="0">
                <a:latin typeface="Times New Roman" panose="02020603050405020304" pitchFamily="18" charset="0"/>
                <a:cs typeface="Times New Roman" panose="02020603050405020304" pitchFamily="18" charset="0"/>
              </a:rPr>
              <a:t>Existing System</a:t>
            </a:r>
          </a:p>
          <a:p>
            <a:r>
              <a:rPr lang="en-IN" dirty="0">
                <a:latin typeface="Times New Roman" panose="02020603050405020304" pitchFamily="18" charset="0"/>
                <a:cs typeface="Times New Roman" panose="02020603050405020304" pitchFamily="18" charset="0"/>
              </a:rPr>
              <a:t>Proposed System</a:t>
            </a:r>
          </a:p>
          <a:p>
            <a:r>
              <a:rPr lang="en-IN" dirty="0">
                <a:latin typeface="Times New Roman" panose="02020603050405020304" pitchFamily="18" charset="0"/>
                <a:cs typeface="Times New Roman" panose="02020603050405020304" pitchFamily="18" charset="0"/>
              </a:rPr>
              <a:t>Design</a:t>
            </a:r>
          </a:p>
          <a:p>
            <a:r>
              <a:rPr lang="en-IN" dirty="0">
                <a:latin typeface="Times New Roman" panose="02020603050405020304" pitchFamily="18" charset="0"/>
                <a:cs typeface="Times New Roman" panose="02020603050405020304" pitchFamily="18" charset="0"/>
              </a:rPr>
              <a:t>Implementation</a:t>
            </a:r>
          </a:p>
          <a:p>
            <a:r>
              <a:rPr lang="en-IN" dirty="0">
                <a:latin typeface="Times New Roman" panose="02020603050405020304" pitchFamily="18" charset="0"/>
                <a:cs typeface="Times New Roman" panose="02020603050405020304" pitchFamily="18" charset="0"/>
              </a:rPr>
              <a:t>Results</a:t>
            </a:r>
          </a:p>
          <a:p>
            <a:r>
              <a:rPr lang="en-IN" dirty="0">
                <a:latin typeface="Times New Roman" panose="02020603050405020304" pitchFamily="18" charset="0"/>
                <a:cs typeface="Times New Roman" panose="02020603050405020304" pitchFamily="18" charset="0"/>
              </a:rPr>
              <a:t>Conclusion</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3151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9F8D7-E57B-0B29-083E-5BE58988739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28B98521-9E32-2D3E-E9BD-180691BB2291}"/>
              </a:ext>
            </a:extLst>
          </p:cNvPr>
          <p:cNvSpPr>
            <a:spLocks noGrp="1"/>
          </p:cNvSpPr>
          <p:nvPr>
            <p:ph idx="1"/>
          </p:nvPr>
        </p:nvSpPr>
        <p:spPr/>
        <p:txBody>
          <a:bodyPr>
            <a:normAutofit lnSpcReduction="10000"/>
          </a:bodyPr>
          <a:lstStyle/>
          <a:p>
            <a:pPr marL="0" indent="0" algn="just">
              <a:buNone/>
            </a:pPr>
            <a:r>
              <a:rPr lang="en-US" sz="2000" dirty="0">
                <a:solidFill>
                  <a:schemeClr val="tx1"/>
                </a:solidFill>
                <a:latin typeface="Times New Roman" panose="02020603050405020304" pitchFamily="18" charset="0"/>
                <a:cs typeface="Times New Roman" panose="02020603050405020304" pitchFamily="18" charset="0"/>
              </a:rPr>
              <a:t>			This project presents an AI-based Realistic HR Interview Simulator designed to help candidates practice and improve their interview skills in an interactive environment. The system uses a Large Language Model to dynamically generate role- and domain-specific HR interview questions along with structured reference answers. Candidate responses are captured through speech and video and analyzed using Automatic Speech Recognition, Natural Language Processing, and Computer Vision techniques. These analyses evaluate content accuracy, communication clarity, tone, confidence, and facial expressions. Unlike traditional mock interview systems, the simulator adapts question difficulty based on candidate performance in real time. Finally, it provides a detailed performance report highlighting strengths, weaknesses, and personalized improvement suggestions to enhance job readiness.</a:t>
            </a:r>
            <a:endParaRPr lang="en-IN" sz="2000" dirty="0">
              <a:solidFill>
                <a:schemeClr val="tx1"/>
              </a:solidFill>
              <a:latin typeface="Times New Roman" panose="02020603050405020304" pitchFamily="18" charset="0"/>
              <a:cs typeface="Times New Roman" panose="02020603050405020304" pitchFamily="18" charset="0"/>
            </a:endParaRPr>
          </a:p>
          <a:p>
            <a:pPr marL="0" indent="0" algn="just">
              <a:buNone/>
            </a:pPr>
            <a:endParaRPr lang="en-IN" sz="2000" dirty="0"/>
          </a:p>
        </p:txBody>
      </p:sp>
    </p:spTree>
    <p:extLst>
      <p:ext uri="{BB962C8B-B14F-4D97-AF65-F5344CB8AC3E}">
        <p14:creationId xmlns:p14="http://schemas.microsoft.com/office/powerpoint/2010/main" val="2007992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999E8-2290-171D-FF5D-EB20FFA698F9}"/>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id="{36BB17A1-8E7E-B219-4EA9-44F374775518}"/>
              </a:ext>
            </a:extLst>
          </p:cNvPr>
          <p:cNvSpPr>
            <a:spLocks noGrp="1"/>
          </p:cNvSpPr>
          <p:nvPr>
            <p:ph idx="1"/>
          </p:nvPr>
        </p:nvSpPr>
        <p:spPr/>
        <p:txBody>
          <a:bodyPr>
            <a:normAutofit/>
          </a:bodyPr>
          <a:lstStyle/>
          <a:p>
            <a:pPr marL="0" indent="0" algn="just">
              <a:buNone/>
            </a:pPr>
            <a:r>
              <a:rPr lang="en-US" sz="2000" dirty="0">
                <a:solidFill>
                  <a:schemeClr val="tx1"/>
                </a:solidFill>
                <a:latin typeface="Times New Roman" panose="02020603050405020304" pitchFamily="18" charset="0"/>
                <a:cs typeface="Times New Roman" panose="02020603050405020304" pitchFamily="18" charset="0"/>
              </a:rPr>
              <a:t>		Design and implement AI-powered interview simulation platform that autonomously conducts, evaluates, and reports realistic HR and technical interviews — providing role-adaptive questioning, multi-dimensional scoring, explainable feedback — for both student mock practice and corporate candidate screening.</a:t>
            </a:r>
            <a:endParaRPr lang="en-IN" sz="2000" dirty="0">
              <a:solidFill>
                <a:schemeClr val="tx1"/>
              </a:solidFill>
              <a:latin typeface="Times New Roman" panose="02020603050405020304" pitchFamily="18" charset="0"/>
              <a:cs typeface="Times New Roman" panose="02020603050405020304" pitchFamily="18" charset="0"/>
            </a:endParaRPr>
          </a:p>
          <a:p>
            <a:pPr algn="just"/>
            <a:endParaRPr lang="en-IN" sz="2000" dirty="0"/>
          </a:p>
        </p:txBody>
      </p:sp>
    </p:spTree>
    <p:extLst>
      <p:ext uri="{BB962C8B-B14F-4D97-AF65-F5344CB8AC3E}">
        <p14:creationId xmlns:p14="http://schemas.microsoft.com/office/powerpoint/2010/main" val="3690788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814FE-09C0-A8E6-BC71-73AFD1B6CBC8}"/>
              </a:ext>
            </a:extLst>
          </p:cNvPr>
          <p:cNvSpPr>
            <a:spLocks noGrp="1"/>
          </p:cNvSpPr>
          <p:nvPr>
            <p:ph type="title"/>
          </p:nvPr>
        </p:nvSpPr>
        <p:spPr>
          <a:xfrm>
            <a:off x="838200" y="681037"/>
            <a:ext cx="10515600" cy="1056323"/>
          </a:xfrm>
        </p:spPr>
        <p:txBody>
          <a:bodyPr>
            <a:normAutofit/>
          </a:bodyPr>
          <a:lstStyle/>
          <a:p>
            <a:r>
              <a:rPr lang="en-IN"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AB8D02F8-894D-BC99-5DD0-43990AA54408}"/>
              </a:ext>
            </a:extLst>
          </p:cNvPr>
          <p:cNvSpPr>
            <a:spLocks noGrp="1"/>
          </p:cNvSpPr>
          <p:nvPr>
            <p:ph idx="1"/>
          </p:nvPr>
        </p:nvSpPr>
        <p:spPr>
          <a:xfrm>
            <a:off x="838200" y="1737360"/>
            <a:ext cx="10353762" cy="3695136"/>
          </a:xfrm>
        </p:spPr>
        <p:txBody>
          <a:bodyPr>
            <a:noAutofit/>
          </a:bodyPr>
          <a:lstStyle/>
          <a:p>
            <a:pPr lvl="0" algn="just" eaLnBrk="0" fontAlgn="base" hangingPunct="0">
              <a:lnSpc>
                <a:spcPct val="10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Existing HR interview systems primarily depend on </a:t>
            </a:r>
            <a:r>
              <a:rPr lang="en-US" altLang="en-US" sz="2000" b="1" dirty="0">
                <a:latin typeface="Times New Roman" panose="02020603050405020304" pitchFamily="18" charset="0"/>
                <a:cs typeface="Times New Roman" panose="02020603050405020304" pitchFamily="18" charset="0"/>
              </a:rPr>
              <a:t>manual interviews</a:t>
            </a:r>
            <a:r>
              <a:rPr lang="en-US" altLang="en-US" sz="2000" dirty="0">
                <a:latin typeface="Times New Roman" panose="02020603050405020304" pitchFamily="18" charset="0"/>
                <a:cs typeface="Times New Roman" panose="02020603050405020304" pitchFamily="18" charset="0"/>
              </a:rPr>
              <a:t> or </a:t>
            </a:r>
            <a:r>
              <a:rPr lang="en-US" altLang="en-US" sz="2000" b="1" dirty="0">
                <a:latin typeface="Times New Roman" panose="02020603050405020304" pitchFamily="18" charset="0"/>
                <a:cs typeface="Times New Roman" panose="02020603050405020304" pitchFamily="18" charset="0"/>
              </a:rPr>
              <a:t>basic AI tools</a:t>
            </a:r>
            <a:r>
              <a:rPr lang="en-US" altLang="en-US" sz="2000" dirty="0">
                <a:latin typeface="Times New Roman" panose="02020603050405020304" pitchFamily="18" charset="0"/>
                <a:cs typeface="Times New Roman" panose="02020603050405020304" pitchFamily="18" charset="0"/>
              </a:rPr>
              <a:t> for resume screening and initial candidate evaluation.</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Many AI-based platforms use </a:t>
            </a:r>
            <a:r>
              <a:rPr lang="en-US" altLang="en-US" sz="2000" b="1" dirty="0">
                <a:latin typeface="Times New Roman" panose="02020603050405020304" pitchFamily="18" charset="0"/>
                <a:cs typeface="Times New Roman" panose="02020603050405020304" pitchFamily="18" charset="0"/>
              </a:rPr>
              <a:t>NLP models and chatbots</a:t>
            </a:r>
            <a:r>
              <a:rPr lang="en-US" altLang="en-US" sz="2000" dirty="0">
                <a:latin typeface="Times New Roman" panose="02020603050405020304" pitchFamily="18" charset="0"/>
                <a:cs typeface="Times New Roman" panose="02020603050405020304" pitchFamily="18" charset="0"/>
              </a:rPr>
              <a:t> to generate </a:t>
            </a:r>
            <a:r>
              <a:rPr lang="en-US" altLang="en-US" sz="2000" b="1" dirty="0">
                <a:latin typeface="Times New Roman" panose="02020603050405020304" pitchFamily="18" charset="0"/>
                <a:cs typeface="Times New Roman" panose="02020603050405020304" pitchFamily="18" charset="0"/>
              </a:rPr>
              <a:t>predefined or keyword-based interview questions</a:t>
            </a:r>
            <a:r>
              <a:rPr lang="en-US" altLang="en-US" sz="2000" dirty="0">
                <a:latin typeface="Times New Roman" panose="02020603050405020304" pitchFamily="18" charset="0"/>
                <a:cs typeface="Times New Roman" panose="02020603050405020304" pitchFamily="18" charset="0"/>
              </a:rPr>
              <a:t> and assess </a:t>
            </a:r>
            <a:r>
              <a:rPr lang="en-US" altLang="en-US" sz="2000" b="1" dirty="0">
                <a:latin typeface="Times New Roman" panose="02020603050405020304" pitchFamily="18" charset="0"/>
                <a:cs typeface="Times New Roman" panose="02020603050405020304" pitchFamily="18" charset="0"/>
              </a:rPr>
              <a:t>textual responses only</a:t>
            </a:r>
            <a:r>
              <a:rPr lang="en-US" altLang="en-US" sz="2000" dirty="0">
                <a:latin typeface="Times New Roman" panose="02020603050405020304" pitchFamily="18" charset="0"/>
                <a:cs typeface="Times New Roman" panose="02020603050405020304" pitchFamily="18" charset="0"/>
              </a:rPr>
              <a:t>.</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Some advanced systems include </a:t>
            </a:r>
            <a:r>
              <a:rPr lang="en-US" altLang="en-US" sz="2000" b="1" dirty="0">
                <a:latin typeface="Times New Roman" panose="02020603050405020304" pitchFamily="18" charset="0"/>
                <a:cs typeface="Times New Roman" panose="02020603050405020304" pitchFamily="18" charset="0"/>
              </a:rPr>
              <a:t>speech analysis</a:t>
            </a:r>
            <a:r>
              <a:rPr lang="en-US" altLang="en-US" sz="2000" dirty="0">
                <a:latin typeface="Times New Roman" panose="02020603050405020304" pitchFamily="18" charset="0"/>
                <a:cs typeface="Times New Roman" panose="02020603050405020304" pitchFamily="18" charset="0"/>
              </a:rPr>
              <a:t> to evaluate </a:t>
            </a:r>
            <a:r>
              <a:rPr lang="en-US" altLang="en-US" sz="2000" b="1" dirty="0">
                <a:latin typeface="Times New Roman" panose="02020603050405020304" pitchFamily="18" charset="0"/>
                <a:cs typeface="Times New Roman" panose="02020603050405020304" pitchFamily="18" charset="0"/>
              </a:rPr>
              <a:t>tone and sentiment</a:t>
            </a:r>
            <a:r>
              <a:rPr lang="en-US" altLang="en-US" sz="2000" dirty="0">
                <a:latin typeface="Times New Roman" panose="02020603050405020304" pitchFamily="18" charset="0"/>
                <a:cs typeface="Times New Roman" panose="02020603050405020304" pitchFamily="18" charset="0"/>
              </a:rPr>
              <a:t>, but this analysis is usually performed </a:t>
            </a:r>
            <a:r>
              <a:rPr lang="en-US" altLang="en-US" sz="2000" b="1" dirty="0">
                <a:latin typeface="Times New Roman" panose="02020603050405020304" pitchFamily="18" charset="0"/>
                <a:cs typeface="Times New Roman" panose="02020603050405020304" pitchFamily="18" charset="0"/>
              </a:rPr>
              <a:t>after the interview</a:t>
            </a:r>
            <a:r>
              <a:rPr lang="en-US" altLang="en-US" sz="2000" dirty="0">
                <a:latin typeface="Times New Roman" panose="02020603050405020304" pitchFamily="18" charset="0"/>
                <a:cs typeface="Times New Roman" panose="02020603050405020304" pitchFamily="18" charset="0"/>
              </a:rPr>
              <a:t>, not in real time.</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2000" b="1" dirty="0">
                <a:latin typeface="Times New Roman" panose="02020603050405020304" pitchFamily="18" charset="0"/>
                <a:cs typeface="Times New Roman" panose="02020603050405020304" pitchFamily="18" charset="0"/>
              </a:rPr>
              <a:t>Facial expression and behavioral analysis</a:t>
            </a:r>
            <a:r>
              <a:rPr lang="en-US" altLang="en-US" sz="2000" dirty="0">
                <a:latin typeface="Times New Roman" panose="02020603050405020304" pitchFamily="18" charset="0"/>
                <a:cs typeface="Times New Roman" panose="02020603050405020304" pitchFamily="18" charset="0"/>
              </a:rPr>
              <a:t> are rarely integrated, and when present, they are </a:t>
            </a:r>
            <a:r>
              <a:rPr lang="en-US" altLang="en-US" sz="2000" b="1" dirty="0">
                <a:latin typeface="Times New Roman" panose="02020603050405020304" pitchFamily="18" charset="0"/>
                <a:cs typeface="Times New Roman" panose="02020603050405020304" pitchFamily="18" charset="0"/>
              </a:rPr>
              <a:t>not utilized for real-time question adaptation</a:t>
            </a:r>
            <a:r>
              <a:rPr lang="en-US" altLang="en-US" sz="2000" dirty="0">
                <a:latin typeface="Times New Roman" panose="02020603050405020304" pitchFamily="18" charset="0"/>
                <a:cs typeface="Times New Roman" panose="02020603050405020304" pitchFamily="18" charset="0"/>
              </a:rPr>
              <a:t>.</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Most existing systems </a:t>
            </a:r>
            <a:r>
              <a:rPr lang="en-US" altLang="en-US" sz="2000" b="1" dirty="0">
                <a:latin typeface="Times New Roman" panose="02020603050405020304" pitchFamily="18" charset="0"/>
                <a:cs typeface="Times New Roman" panose="02020603050405020304" pitchFamily="18" charset="0"/>
              </a:rPr>
              <a:t>lack dynamic difficulty adjustment</a:t>
            </a:r>
            <a:r>
              <a:rPr lang="en-US" altLang="en-US" sz="2000" dirty="0">
                <a:latin typeface="Times New Roman" panose="02020603050405020304" pitchFamily="18" charset="0"/>
                <a:cs typeface="Times New Roman" panose="02020603050405020304" pitchFamily="18" charset="0"/>
              </a:rPr>
              <a:t> based on a candidate’s responses, performance, or experience level.</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2000" b="1" dirty="0">
                <a:latin typeface="Times New Roman" panose="02020603050405020304" pitchFamily="18" charset="0"/>
                <a:cs typeface="Times New Roman" panose="02020603050405020304" pitchFamily="18" charset="0"/>
              </a:rPr>
              <a:t>Scalability is limited</a:t>
            </a:r>
            <a:r>
              <a:rPr lang="en-US" altLang="en-US" sz="2000" dirty="0">
                <a:latin typeface="Times New Roman" panose="02020603050405020304" pitchFamily="18" charset="0"/>
                <a:cs typeface="Times New Roman" panose="02020603050405020304" pitchFamily="18" charset="0"/>
              </a:rPr>
              <a:t>, as traditional and semi-automated systems struggle to handle </a:t>
            </a:r>
            <a:r>
              <a:rPr lang="en-US" altLang="en-US" sz="2000" b="1" dirty="0">
                <a:latin typeface="Times New Roman" panose="02020603050405020304" pitchFamily="18" charset="0"/>
                <a:cs typeface="Times New Roman" panose="02020603050405020304" pitchFamily="18" charset="0"/>
              </a:rPr>
              <a:t>large numbers of candidates simultaneously</a:t>
            </a:r>
            <a:r>
              <a:rPr lang="en-US" altLang="en-US" sz="2000" dirty="0">
                <a:latin typeface="Times New Roman" panose="02020603050405020304" pitchFamily="18" charset="0"/>
                <a:cs typeface="Times New Roman" panose="02020603050405020304" pitchFamily="18" charset="0"/>
              </a:rPr>
              <a:t>.</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Overall, current HR interview systems </a:t>
            </a:r>
            <a:r>
              <a:rPr lang="en-US" altLang="en-US" sz="2000" b="1" dirty="0">
                <a:latin typeface="Times New Roman" panose="02020603050405020304" pitchFamily="18" charset="0"/>
                <a:cs typeface="Times New Roman" panose="02020603050405020304" pitchFamily="18" charset="0"/>
              </a:rPr>
              <a:t>do not offer fully adaptive, multimodal, real-time interview simulations</a:t>
            </a:r>
            <a:r>
              <a:rPr lang="en-US" altLang="en-US" sz="2000" dirty="0">
                <a:latin typeface="Times New Roman" panose="02020603050405020304" pitchFamily="18" charset="0"/>
                <a:cs typeface="Times New Roman" panose="02020603050405020304" pitchFamily="18" charset="0"/>
              </a:rPr>
              <a:t> with </a:t>
            </a:r>
            <a:r>
              <a:rPr lang="en-US" altLang="en-US" sz="2000" b="1" dirty="0">
                <a:latin typeface="Times New Roman" panose="02020603050405020304" pitchFamily="18" charset="0"/>
                <a:cs typeface="Times New Roman" panose="02020603050405020304" pitchFamily="18" charset="0"/>
              </a:rPr>
              <a:t>comprehensive and unbiased candidate assessment</a:t>
            </a:r>
            <a:r>
              <a:rPr lang="en-US" altLang="en-US" sz="2000" dirty="0">
                <a:latin typeface="Times New Roman" panose="02020603050405020304" pitchFamily="18" charset="0"/>
                <a:cs typeface="Times New Roman" panose="02020603050405020304" pitchFamily="18" charset="0"/>
              </a:rPr>
              <a:t>.</a:t>
            </a:r>
          </a:p>
          <a:p>
            <a:endParaRPr lang="en-IN" sz="2000" dirty="0"/>
          </a:p>
        </p:txBody>
      </p:sp>
    </p:spTree>
    <p:extLst>
      <p:ext uri="{BB962C8B-B14F-4D97-AF65-F5344CB8AC3E}">
        <p14:creationId xmlns:p14="http://schemas.microsoft.com/office/powerpoint/2010/main" val="2510317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9E367-20F0-A44E-CC66-910BF4E8515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Research Gap </a:t>
            </a:r>
          </a:p>
        </p:txBody>
      </p:sp>
      <p:sp>
        <p:nvSpPr>
          <p:cNvPr id="3" name="Content Placeholder 2">
            <a:extLst>
              <a:ext uri="{FF2B5EF4-FFF2-40B4-BE49-F238E27FC236}">
                <a16:creationId xmlns:a16="http://schemas.microsoft.com/office/drawing/2014/main" id="{1E0BE5F6-5CED-8F6D-497E-634D998D06B5}"/>
              </a:ext>
            </a:extLst>
          </p:cNvPr>
          <p:cNvSpPr>
            <a:spLocks noGrp="1"/>
          </p:cNvSpPr>
          <p:nvPr>
            <p:ph idx="1"/>
          </p:nvPr>
        </p:nvSpPr>
        <p:spPr/>
        <p:txBody>
          <a:bodyPr>
            <a:normAutofit/>
          </a:bodyPr>
          <a:lstStyle/>
          <a:p>
            <a:pPr marL="285750" indent="-285750"/>
            <a:r>
              <a:rPr lang="en-IN" sz="2000" dirty="0">
                <a:latin typeface="Times New Roman" panose="02020603050405020304" pitchFamily="18" charset="0"/>
                <a:cs typeface="Times New Roman" panose="02020603050405020304" pitchFamily="18" charset="0"/>
              </a:rPr>
              <a:t>AI </a:t>
            </a:r>
            <a:r>
              <a:rPr lang="en-IN" dirty="0">
                <a:latin typeface="Times New Roman" panose="02020603050405020304" pitchFamily="18" charset="0"/>
                <a:cs typeface="Times New Roman" panose="02020603050405020304" pitchFamily="18" charset="0"/>
              </a:rPr>
              <a:t>Adaptive </a:t>
            </a:r>
            <a:r>
              <a:rPr lang="en-IN" sz="2000" dirty="0">
                <a:latin typeface="Times New Roman" panose="02020603050405020304" pitchFamily="18" charset="0"/>
                <a:cs typeface="Times New Roman" panose="02020603050405020304" pitchFamily="18" charset="0"/>
              </a:rPr>
              <a:t>question generation</a:t>
            </a:r>
          </a:p>
          <a:p>
            <a:pPr marL="285750" indent="-285750"/>
            <a:r>
              <a:rPr lang="en-IN" sz="2000" dirty="0">
                <a:latin typeface="Times New Roman" panose="02020603050405020304" pitchFamily="18" charset="0"/>
                <a:cs typeface="Times New Roman" panose="02020603050405020304" pitchFamily="18" charset="0"/>
              </a:rPr>
              <a:t>Multi-dimensional scoring</a:t>
            </a:r>
          </a:p>
          <a:p>
            <a:pPr marL="285750" indent="-285750"/>
            <a:r>
              <a:rPr lang="en-IN" sz="2000" dirty="0">
                <a:latin typeface="Times New Roman" panose="02020603050405020304" pitchFamily="18" charset="0"/>
                <a:cs typeface="Times New Roman" panose="02020603050405020304" pitchFamily="18" charset="0"/>
              </a:rPr>
              <a:t>Live video</a:t>
            </a:r>
          </a:p>
          <a:p>
            <a:pPr marL="285750" indent="-285750"/>
            <a:r>
              <a:rPr lang="en-IN" sz="2000" dirty="0">
                <a:latin typeface="Times New Roman" panose="02020603050405020304" pitchFamily="18" charset="0"/>
                <a:cs typeface="Times New Roman" panose="02020603050405020304" pitchFamily="18" charset="0"/>
              </a:rPr>
              <a:t>SHAP explainability</a:t>
            </a:r>
          </a:p>
          <a:p>
            <a:pPr marL="285750" indent="-285750"/>
            <a:r>
              <a:rPr lang="en-IN" sz="2000" dirty="0">
                <a:latin typeface="Times New Roman" panose="02020603050405020304" pitchFamily="18" charset="0"/>
                <a:cs typeface="Times New Roman" panose="02020603050405020304" pitchFamily="18" charset="0"/>
              </a:rPr>
              <a:t>PDF reporting with detailed feedback</a:t>
            </a:r>
          </a:p>
          <a:p>
            <a:pPr marL="285750" indent="-285750"/>
            <a:r>
              <a:rPr lang="en-IN" sz="2000" dirty="0">
                <a:latin typeface="Times New Roman" panose="02020603050405020304" pitchFamily="18" charset="0"/>
                <a:cs typeface="Times New Roman" panose="02020603050405020304" pitchFamily="18" charset="0"/>
              </a:rPr>
              <a:t>HR monitoring dashboard</a:t>
            </a:r>
          </a:p>
          <a:p>
            <a:endParaRPr lang="en-IN" sz="2000" dirty="0">
              <a:latin typeface="Times New Roman" panose="02020603050405020304" pitchFamily="18"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2599986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020A1-8D97-6FC4-2A84-D9CB17183B16}"/>
              </a:ext>
            </a:extLst>
          </p:cNvPr>
          <p:cNvSpPr>
            <a:spLocks noGrp="1"/>
          </p:cNvSpPr>
          <p:nvPr>
            <p:ph type="title"/>
          </p:nvPr>
        </p:nvSpPr>
        <p:spPr>
          <a:xfrm>
            <a:off x="838200" y="365125"/>
            <a:ext cx="10515600" cy="549275"/>
          </a:xfrm>
        </p:spPr>
        <p:txBody>
          <a:bodyPr>
            <a:noAutofit/>
          </a:bodyPr>
          <a:lstStyle/>
          <a:p>
            <a:r>
              <a:rPr lang="en-IN"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9A795B3E-7414-69B4-D49F-7DA8E2F20312}"/>
              </a:ext>
            </a:extLst>
          </p:cNvPr>
          <p:cNvSpPr>
            <a:spLocks noGrp="1"/>
          </p:cNvSpPr>
          <p:nvPr>
            <p:ph idx="1"/>
          </p:nvPr>
        </p:nvSpPr>
        <p:spPr>
          <a:xfrm>
            <a:off x="838200" y="1030096"/>
            <a:ext cx="10515600" cy="4392295"/>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AI-Powered Intelligent Interview Platform</a:t>
            </a:r>
          </a:p>
          <a:p>
            <a:pPr lvl="1"/>
            <a:r>
              <a:rPr lang="en-US" sz="1600" dirty="0">
                <a:latin typeface="Times New Roman" panose="02020603050405020304" pitchFamily="18" charset="0"/>
                <a:cs typeface="Times New Roman" panose="02020603050405020304" pitchFamily="18" charset="0"/>
              </a:rPr>
              <a:t>End-to-end automated interview system integrating AI, ML, and real-time analytics </a:t>
            </a:r>
          </a:p>
          <a:p>
            <a:pPr lvl="1"/>
            <a:r>
              <a:rPr lang="en-US" sz="1600" dirty="0">
                <a:latin typeface="Times New Roman" panose="02020603050405020304" pitchFamily="18" charset="0"/>
                <a:cs typeface="Times New Roman" panose="02020603050405020304" pitchFamily="18" charset="0"/>
              </a:rPr>
              <a:t>Simulates real-world technical and HR interviews with adaptive questioning </a:t>
            </a:r>
          </a:p>
          <a:p>
            <a:pPr lvl="1"/>
            <a:r>
              <a:rPr lang="en-US" sz="1600" dirty="0">
                <a:latin typeface="Times New Roman" panose="02020603050405020304" pitchFamily="18" charset="0"/>
                <a:cs typeface="Times New Roman" panose="02020603050405020304" pitchFamily="18" charset="0"/>
              </a:rPr>
              <a:t>Provides instant evaluation, feedback, and performance insights </a:t>
            </a:r>
          </a:p>
          <a:p>
            <a:pPr marL="0" indent="0">
              <a:buNone/>
            </a:pPr>
            <a:r>
              <a:rPr lang="en-US" sz="1800" b="1" dirty="0">
                <a:latin typeface="Times New Roman" panose="02020603050405020304" pitchFamily="18" charset="0"/>
                <a:cs typeface="Times New Roman" panose="02020603050405020304" pitchFamily="18" charset="0"/>
              </a:rPr>
              <a:t>Key Components</a:t>
            </a:r>
          </a:p>
          <a:p>
            <a:pPr>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Intelligent Question Generation</a:t>
            </a:r>
            <a:r>
              <a:rPr lang="en-US" sz="1800" dirty="0">
                <a:latin typeface="Times New Roman" panose="02020603050405020304" pitchFamily="18" charset="0"/>
                <a:cs typeface="Times New Roman" panose="02020603050405020304" pitchFamily="18" charset="0"/>
              </a:rPr>
              <a:t> </a:t>
            </a:r>
          </a:p>
          <a:p>
            <a:pPr lvl="1"/>
            <a:r>
              <a:rPr lang="en-US" sz="1600" dirty="0">
                <a:latin typeface="Times New Roman" panose="02020603050405020304" pitchFamily="18" charset="0"/>
                <a:cs typeface="Times New Roman" panose="02020603050405020304" pitchFamily="18" charset="0"/>
              </a:rPr>
              <a:t>Behavioral, Technical, Situational, and Cultural-fit models </a:t>
            </a:r>
          </a:p>
          <a:p>
            <a:pPr lvl="1"/>
            <a:r>
              <a:rPr lang="en-US" sz="1600" dirty="0">
                <a:latin typeface="Times New Roman" panose="02020603050405020304" pitchFamily="18" charset="0"/>
                <a:cs typeface="Times New Roman" panose="02020603050405020304" pitchFamily="18" charset="0"/>
              </a:rPr>
              <a:t>Dynamic question routing and difficulty calibration </a:t>
            </a:r>
          </a:p>
          <a:p>
            <a:pPr>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Adaptive Interview Engine</a:t>
            </a:r>
            <a:r>
              <a:rPr lang="en-US" sz="1800" dirty="0">
                <a:latin typeface="Times New Roman" panose="02020603050405020304" pitchFamily="18" charset="0"/>
                <a:cs typeface="Times New Roman" panose="02020603050405020304" pitchFamily="18" charset="0"/>
              </a:rPr>
              <a:t> </a:t>
            </a:r>
          </a:p>
          <a:p>
            <a:pPr lvl="1"/>
            <a:r>
              <a:rPr lang="en-US" sz="1600" dirty="0">
                <a:latin typeface="Times New Roman" panose="02020603050405020304" pitchFamily="18" charset="0"/>
                <a:cs typeface="Times New Roman" panose="02020603050405020304" pitchFamily="18" charset="0"/>
              </a:rPr>
              <a:t>Reinforcement Learning (PPO) adjusts difficulty in real-time </a:t>
            </a:r>
          </a:p>
          <a:p>
            <a:pPr lvl="1"/>
            <a:r>
              <a:rPr lang="en-US" sz="1600" dirty="0">
                <a:latin typeface="Times New Roman" panose="02020603050405020304" pitchFamily="18" charset="0"/>
                <a:cs typeface="Times New Roman" panose="02020603050405020304" pitchFamily="18" charset="0"/>
              </a:rPr>
              <a:t>Improves engagement and evaluation accuracy</a:t>
            </a:r>
          </a:p>
          <a:p>
            <a:pPr>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Data Capture Level</a:t>
            </a:r>
          </a:p>
          <a:p>
            <a:pPr lvl="1"/>
            <a:r>
              <a:rPr lang="en-US" sz="1600" dirty="0">
                <a:latin typeface="Times New Roman" panose="02020603050405020304" pitchFamily="18" charset="0"/>
                <a:cs typeface="Times New Roman" panose="02020603050405020304" pitchFamily="18" charset="0"/>
              </a:rPr>
              <a:t>Audio and video responses are captured in real time.</a:t>
            </a:r>
          </a:p>
          <a:p>
            <a:pPr lvl="1"/>
            <a:r>
              <a:rPr lang="en-US" sz="1600" dirty="0">
                <a:latin typeface="Times New Roman" panose="02020603050405020304" pitchFamily="18" charset="0"/>
                <a:cs typeface="Times New Roman" panose="02020603050405020304" pitchFamily="18" charset="0"/>
              </a:rPr>
              <a:t>Interview session is continuously tracked and managed.</a:t>
            </a:r>
          </a:p>
          <a:p>
            <a:pPr lvl="1"/>
            <a:r>
              <a:rPr lang="en-US" sz="1600" dirty="0">
                <a:latin typeface="Times New Roman" panose="02020603050405020304" pitchFamily="18" charset="0"/>
                <a:cs typeface="Times New Roman" panose="02020603050405020304" pitchFamily="18" charset="0"/>
              </a:rPr>
              <a:t>Recorded data is securely forwarded for processing.</a:t>
            </a:r>
          </a:p>
          <a:p>
            <a:pPr marL="914400" lvl="2" indent="0">
              <a:buNone/>
            </a:pPr>
            <a:endParaRPr lang="en-US" sz="1200" dirty="0">
              <a:latin typeface="Times New Roman" panose="02020603050405020304" pitchFamily="18" charset="0"/>
              <a:cs typeface="Times New Roman" panose="02020603050405020304" pitchFamily="18" charset="0"/>
            </a:endParaRPr>
          </a:p>
          <a:p>
            <a:endParaRPr lang="en-IN" sz="1600" dirty="0"/>
          </a:p>
        </p:txBody>
      </p:sp>
    </p:spTree>
    <p:extLst>
      <p:ext uri="{BB962C8B-B14F-4D97-AF65-F5344CB8AC3E}">
        <p14:creationId xmlns:p14="http://schemas.microsoft.com/office/powerpoint/2010/main" val="3811393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3EB9-9F49-B456-283A-3B2D1A50D1FF}"/>
              </a:ext>
            </a:extLst>
          </p:cNvPr>
          <p:cNvSpPr>
            <a:spLocks noGrp="1"/>
          </p:cNvSpPr>
          <p:nvPr>
            <p:ph type="title"/>
          </p:nvPr>
        </p:nvSpPr>
        <p:spPr>
          <a:xfrm>
            <a:off x="691896" y="99949"/>
            <a:ext cx="10515600" cy="905891"/>
          </a:xfrm>
        </p:spPr>
        <p:txBody>
          <a:bodyPr/>
          <a:lstStyle/>
          <a:p>
            <a:pPr algn="l"/>
            <a:r>
              <a:rPr lang="en-IN" dirty="0" err="1">
                <a:latin typeface="Times New Roman" panose="02020603050405020304" pitchFamily="18" charset="0"/>
                <a:cs typeface="Times New Roman" panose="02020603050405020304" pitchFamily="18" charset="0"/>
              </a:rPr>
              <a:t>Cont</a:t>
            </a:r>
            <a:r>
              <a:rPr lang="en-IN" dirty="0"/>
              <a:t>…</a:t>
            </a:r>
          </a:p>
        </p:txBody>
      </p:sp>
      <p:sp>
        <p:nvSpPr>
          <p:cNvPr id="3" name="Content Placeholder 2">
            <a:extLst>
              <a:ext uri="{FF2B5EF4-FFF2-40B4-BE49-F238E27FC236}">
                <a16:creationId xmlns:a16="http://schemas.microsoft.com/office/drawing/2014/main" id="{64A4CF64-20F5-0D49-C9D8-4DDA02623AEC}"/>
              </a:ext>
            </a:extLst>
          </p:cNvPr>
          <p:cNvSpPr>
            <a:spLocks noGrp="1"/>
          </p:cNvSpPr>
          <p:nvPr>
            <p:ph idx="1"/>
          </p:nvPr>
        </p:nvSpPr>
        <p:spPr>
          <a:xfrm>
            <a:off x="627888" y="896112"/>
            <a:ext cx="10515600" cy="5221859"/>
          </a:xfrm>
        </p:spPr>
        <p:txBody>
          <a:bodyPr>
            <a:noAutofit/>
          </a:bodyPr>
          <a:lstStyle/>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Real-Time Multimodal Analysis</a:t>
            </a:r>
          </a:p>
          <a:p>
            <a:pPr lvl="1"/>
            <a:r>
              <a:rPr lang="en-US" sz="2000" dirty="0">
                <a:latin typeface="Times New Roman" panose="02020603050405020304" pitchFamily="18" charset="0"/>
                <a:cs typeface="Times New Roman" panose="02020603050405020304" pitchFamily="18" charset="0"/>
              </a:rPr>
              <a:t>Facial expression, voice sentiment, gaze tracking, and posture analysis </a:t>
            </a:r>
          </a:p>
          <a:p>
            <a:pPr lvl="1"/>
            <a:r>
              <a:rPr lang="en-US" sz="2000" dirty="0">
                <a:latin typeface="Times New Roman" panose="02020603050405020304" pitchFamily="18" charset="0"/>
                <a:cs typeface="Times New Roman" panose="02020603050405020304" pitchFamily="18" charset="0"/>
              </a:rPr>
              <a:t>Continuous evaluation of confidence, stress, and engagement </a:t>
            </a: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AI-Based Proctoring System</a:t>
            </a:r>
          </a:p>
          <a:p>
            <a:pPr lvl="1"/>
            <a:r>
              <a:rPr lang="en-US" sz="2000" dirty="0">
                <a:latin typeface="Times New Roman" panose="02020603050405020304" pitchFamily="18" charset="0"/>
                <a:cs typeface="Times New Roman" panose="02020603050405020304" pitchFamily="18" charset="0"/>
              </a:rPr>
              <a:t>Identity verification using face embeddings </a:t>
            </a:r>
          </a:p>
          <a:p>
            <a:pPr lvl="1"/>
            <a:r>
              <a:rPr lang="en-US" sz="2000" dirty="0">
                <a:latin typeface="Times New Roman" panose="02020603050405020304" pitchFamily="18" charset="0"/>
                <a:cs typeface="Times New Roman" panose="02020603050405020304" pitchFamily="18" charset="0"/>
              </a:rPr>
              <a:t>Detects cheating (multiple persons, phone usage, suspicious objects) </a:t>
            </a:r>
          </a:p>
          <a:p>
            <a:pPr lvl="1"/>
            <a:r>
              <a:rPr lang="en-US" sz="2000" dirty="0">
                <a:latin typeface="Times New Roman" panose="02020603050405020304" pitchFamily="18" charset="0"/>
                <a:cs typeface="Times New Roman" panose="02020603050405020304" pitchFamily="18" charset="0"/>
              </a:rPr>
              <a:t>Generates integrity reports with risk scoring </a:t>
            </a: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Explainable AI &amp; Feedback</a:t>
            </a:r>
          </a:p>
          <a:p>
            <a:pPr lvl="1"/>
            <a:r>
              <a:rPr lang="en-US" sz="2000" dirty="0">
                <a:latin typeface="Times New Roman" panose="02020603050405020304" pitchFamily="18" charset="0"/>
                <a:cs typeface="Times New Roman" panose="02020603050405020304" pitchFamily="18" charset="0"/>
              </a:rPr>
              <a:t>SHAP-based scoring explanation for transparency </a:t>
            </a:r>
          </a:p>
          <a:p>
            <a:pPr lvl="1"/>
            <a:r>
              <a:rPr lang="en-US" sz="2000" dirty="0">
                <a:latin typeface="Times New Roman" panose="02020603050405020304" pitchFamily="18" charset="0"/>
                <a:cs typeface="Times New Roman" panose="02020603050405020304" pitchFamily="18" charset="0"/>
              </a:rPr>
              <a:t>Detailed breakdown of performance across multiple dimensions </a:t>
            </a:r>
          </a:p>
          <a:p>
            <a:pPr>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Personalized Development Roadmap</a:t>
            </a:r>
          </a:p>
          <a:p>
            <a:pPr lvl="1"/>
            <a:r>
              <a:rPr lang="en-US" sz="2000" dirty="0">
                <a:latin typeface="Times New Roman" panose="02020603050405020304" pitchFamily="18" charset="0"/>
                <a:cs typeface="Times New Roman" panose="02020603050405020304" pitchFamily="18" charset="0"/>
              </a:rPr>
              <a:t>4-phase improvement plan (Foundation → Mastery) </a:t>
            </a:r>
          </a:p>
          <a:p>
            <a:pPr lvl="1"/>
            <a:r>
              <a:rPr lang="en-US" sz="2000" dirty="0">
                <a:latin typeface="Times New Roman" panose="02020603050405020304" pitchFamily="18" charset="0"/>
                <a:cs typeface="Times New Roman" panose="02020603050405020304" pitchFamily="18" charset="0"/>
              </a:rPr>
              <a:t>Tailored learning paths and skill enhancement strategies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6619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1CD8B-67E8-E53F-6240-FAF4B42BE40B}"/>
              </a:ext>
            </a:extLst>
          </p:cNvPr>
          <p:cNvSpPr>
            <a:spLocks noGrp="1"/>
          </p:cNvSpPr>
          <p:nvPr>
            <p:ph type="title"/>
          </p:nvPr>
        </p:nvSpPr>
        <p:spPr>
          <a:xfrm>
            <a:off x="765048" y="182245"/>
            <a:ext cx="10515600" cy="942467"/>
          </a:xfrm>
        </p:spPr>
        <p:txBody>
          <a:bodyPr/>
          <a:lstStyle/>
          <a:p>
            <a:r>
              <a:rPr lang="en-IN" dirty="0">
                <a:latin typeface="Times New Roman" panose="02020603050405020304" pitchFamily="18" charset="0"/>
                <a:cs typeface="Times New Roman" panose="02020603050405020304" pitchFamily="18" charset="0"/>
              </a:rPr>
              <a:t>Design</a:t>
            </a:r>
          </a:p>
        </p:txBody>
      </p:sp>
      <p:sp>
        <p:nvSpPr>
          <p:cNvPr id="3" name="Content Placeholder 2">
            <a:extLst>
              <a:ext uri="{FF2B5EF4-FFF2-40B4-BE49-F238E27FC236}">
                <a16:creationId xmlns:a16="http://schemas.microsoft.com/office/drawing/2014/main" id="{F582A6E9-6D9E-9643-6549-EEC99C71C594}"/>
              </a:ext>
            </a:extLst>
          </p:cNvPr>
          <p:cNvSpPr>
            <a:spLocks noGrp="1"/>
          </p:cNvSpPr>
          <p:nvPr>
            <p:ph idx="1"/>
          </p:nvPr>
        </p:nvSpPr>
        <p:spPr>
          <a:xfrm>
            <a:off x="765048" y="1253330"/>
            <a:ext cx="10515600" cy="4790853"/>
          </a:xfrm>
        </p:spPr>
        <p:txBody>
          <a:bodyPr>
            <a:noAutofit/>
          </a:bodyPr>
          <a:lstStyle/>
          <a:p>
            <a:pPr marL="0" indent="0">
              <a:buNone/>
            </a:pPr>
            <a:r>
              <a:rPr lang="en-IN" sz="1600" b="1" dirty="0">
                <a:latin typeface="Times New Roman" panose="02020603050405020304" pitchFamily="18" charset="0"/>
                <a:cs typeface="Times New Roman" panose="02020603050405020304" pitchFamily="18" charset="0"/>
              </a:rPr>
              <a:t>System Architecture &amp; Core Design Decisions</a:t>
            </a:r>
          </a:p>
          <a:p>
            <a:r>
              <a:rPr lang="en-IN" sz="1600" b="1" dirty="0">
                <a:latin typeface="Times New Roman" panose="02020603050405020304" pitchFamily="18" charset="0"/>
                <a:cs typeface="Times New Roman" panose="02020603050405020304" pitchFamily="18" charset="0"/>
              </a:rPr>
              <a:t>Hybrid Modular Architecture</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Three-tier system: React frontend, </a:t>
            </a:r>
            <a:r>
              <a:rPr lang="en-IN" sz="1600" dirty="0" err="1">
                <a:latin typeface="Times New Roman" panose="02020603050405020304" pitchFamily="18" charset="0"/>
                <a:cs typeface="Times New Roman" panose="02020603050405020304" pitchFamily="18" charset="0"/>
              </a:rPr>
              <a:t>FastAPI</a:t>
            </a:r>
            <a:r>
              <a:rPr lang="en-IN" sz="1600" dirty="0">
                <a:latin typeface="Times New Roman" panose="02020603050405020304" pitchFamily="18" charset="0"/>
                <a:cs typeface="Times New Roman" panose="02020603050405020304" pitchFamily="18" charset="0"/>
              </a:rPr>
              <a:t> backend, MongoDB persistence </a:t>
            </a:r>
          </a:p>
          <a:p>
            <a:pPr lvl="1"/>
            <a:r>
              <a:rPr lang="en-IN" sz="1600" dirty="0">
                <a:latin typeface="Times New Roman" panose="02020603050405020304" pitchFamily="18" charset="0"/>
                <a:cs typeface="Times New Roman" panose="02020603050405020304" pitchFamily="18" charset="0"/>
              </a:rPr>
              <a:t>Service-oriented backend with independent modules (AI, Proctoring, Analytics, Reporting) </a:t>
            </a:r>
          </a:p>
          <a:p>
            <a:r>
              <a:rPr lang="en-IN" sz="1600" b="1" dirty="0">
                <a:latin typeface="Times New Roman" panose="02020603050405020304" pitchFamily="18" charset="0"/>
                <a:cs typeface="Times New Roman" panose="02020603050405020304" pitchFamily="18" charset="0"/>
              </a:rPr>
              <a:t>Real-Time Communication Layer</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WebSocket-based bidirectional streaming for live interview interaction </a:t>
            </a:r>
          </a:p>
          <a:p>
            <a:pPr lvl="1"/>
            <a:r>
              <a:rPr lang="en-IN" sz="1600" dirty="0">
                <a:latin typeface="Times New Roman" panose="02020603050405020304" pitchFamily="18" charset="0"/>
                <a:cs typeface="Times New Roman" panose="02020603050405020304" pitchFamily="18" charset="0"/>
              </a:rPr>
              <a:t>Async event-driven pipeline using </a:t>
            </a:r>
            <a:r>
              <a:rPr lang="en-IN" sz="1600" dirty="0" err="1">
                <a:latin typeface="Times New Roman" panose="02020603050405020304" pitchFamily="18" charset="0"/>
                <a:cs typeface="Times New Roman" panose="02020603050405020304" pitchFamily="18" charset="0"/>
              </a:rPr>
              <a:t>asyncio</a:t>
            </a:r>
            <a:r>
              <a:rPr lang="en-IN" sz="1600" dirty="0">
                <a:latin typeface="Times New Roman" panose="02020603050405020304" pitchFamily="18" charset="0"/>
                <a:cs typeface="Times New Roman" panose="02020603050405020304" pitchFamily="18" charset="0"/>
              </a:rPr>
              <a:t> for concurrent processing </a:t>
            </a:r>
          </a:p>
          <a:p>
            <a:r>
              <a:rPr lang="en-IN" sz="1600" b="1" dirty="0">
                <a:latin typeface="Times New Roman" panose="02020603050405020304" pitchFamily="18" charset="0"/>
                <a:cs typeface="Times New Roman" panose="02020603050405020304" pitchFamily="18" charset="0"/>
              </a:rPr>
              <a:t>Centralized Model Registry Design</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Singleton-based model loading to avoid duplication and reduce latency </a:t>
            </a:r>
          </a:p>
          <a:p>
            <a:pPr lvl="1"/>
            <a:r>
              <a:rPr lang="en-IN" sz="1600" dirty="0">
                <a:latin typeface="Times New Roman" panose="02020603050405020304" pitchFamily="18" charset="0"/>
                <a:cs typeface="Times New Roman" panose="02020603050405020304" pitchFamily="18" charset="0"/>
              </a:rPr>
              <a:t>Multi-provider fallback chain: </a:t>
            </a:r>
          </a:p>
          <a:p>
            <a:pPr lvl="1"/>
            <a:r>
              <a:rPr lang="en-IN" sz="1600" dirty="0">
                <a:latin typeface="Times New Roman" panose="02020603050405020304" pitchFamily="18" charset="0"/>
                <a:cs typeface="Times New Roman" panose="02020603050405020304" pitchFamily="18" charset="0"/>
              </a:rPr>
              <a:t>Gemini → </a:t>
            </a:r>
            <a:r>
              <a:rPr lang="en-IN" sz="1600" dirty="0" err="1">
                <a:latin typeface="Times New Roman" panose="02020603050405020304" pitchFamily="18" charset="0"/>
                <a:cs typeface="Times New Roman" panose="02020603050405020304" pitchFamily="18" charset="0"/>
              </a:rPr>
              <a:t>OpenRouter</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vLLM</a:t>
            </a:r>
            <a:r>
              <a:rPr lang="en-IN" sz="1600" dirty="0">
                <a:latin typeface="Times New Roman" panose="02020603050405020304" pitchFamily="18" charset="0"/>
                <a:cs typeface="Times New Roman" panose="02020603050405020304" pitchFamily="18" charset="0"/>
              </a:rPr>
              <a:t> GPU fallback </a:t>
            </a:r>
          </a:p>
          <a:p>
            <a:r>
              <a:rPr lang="en-IN" sz="1600" b="1" dirty="0">
                <a:latin typeface="Times New Roman" panose="02020603050405020304" pitchFamily="18" charset="0"/>
                <a:cs typeface="Times New Roman" panose="02020603050405020304" pitchFamily="18" charset="0"/>
              </a:rPr>
              <a:t>Two-Phase Evaluation Pipeline</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Phase 1: Instant scoring using embeddings + cosine similarity </a:t>
            </a:r>
          </a:p>
          <a:p>
            <a:pPr lvl="1"/>
            <a:r>
              <a:rPr lang="en-IN" sz="1600" dirty="0">
                <a:latin typeface="Times New Roman" panose="02020603050405020304" pitchFamily="18" charset="0"/>
                <a:cs typeface="Times New Roman" panose="02020603050405020304" pitchFamily="18" charset="0"/>
              </a:rPr>
              <a:t>Phase 2: Deep LLM-based rubric evaluation in background </a:t>
            </a:r>
          </a:p>
          <a:p>
            <a:endParaRPr lang="en-IN" sz="1600" dirty="0"/>
          </a:p>
        </p:txBody>
      </p:sp>
    </p:spTree>
    <p:extLst>
      <p:ext uri="{BB962C8B-B14F-4D97-AF65-F5344CB8AC3E}">
        <p14:creationId xmlns:p14="http://schemas.microsoft.com/office/powerpoint/2010/main" val="4149224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558C9-8459-398C-66A9-0E2778B3E8F2}"/>
              </a:ext>
            </a:extLst>
          </p:cNvPr>
          <p:cNvSpPr>
            <a:spLocks noGrp="1"/>
          </p:cNvSpPr>
          <p:nvPr>
            <p:ph type="title"/>
          </p:nvPr>
        </p:nvSpPr>
        <p:spPr>
          <a:xfrm>
            <a:off x="838200" y="365125"/>
            <a:ext cx="10515600" cy="457835"/>
          </a:xfrm>
        </p:spPr>
        <p:txBody>
          <a:bodyPr>
            <a:normAutofit fontScale="90000"/>
          </a:bodyPr>
          <a:lstStyle/>
          <a:p>
            <a:pPr algn="l"/>
            <a:r>
              <a:rPr lang="en-IN" dirty="0">
                <a:latin typeface="Times New Roman" panose="02020603050405020304" pitchFamily="18" charset="0"/>
                <a:cs typeface="Times New Roman" panose="02020603050405020304" pitchFamily="18" charset="0"/>
              </a:rPr>
              <a:t>Cont</a:t>
            </a:r>
            <a:r>
              <a:rPr lang="en-IN" dirty="0"/>
              <a:t>..</a:t>
            </a:r>
          </a:p>
        </p:txBody>
      </p:sp>
      <p:sp>
        <p:nvSpPr>
          <p:cNvPr id="3" name="Content Placeholder 2">
            <a:extLst>
              <a:ext uri="{FF2B5EF4-FFF2-40B4-BE49-F238E27FC236}">
                <a16:creationId xmlns:a16="http://schemas.microsoft.com/office/drawing/2014/main" id="{1901898F-6816-4E45-0109-387005FFB4DE}"/>
              </a:ext>
            </a:extLst>
          </p:cNvPr>
          <p:cNvSpPr>
            <a:spLocks noGrp="1"/>
          </p:cNvSpPr>
          <p:nvPr>
            <p:ph idx="1"/>
          </p:nvPr>
        </p:nvSpPr>
        <p:spPr>
          <a:xfrm>
            <a:off x="838200" y="822960"/>
            <a:ext cx="10515600" cy="4351338"/>
          </a:xfrm>
        </p:spPr>
        <p:txBody>
          <a:bodyPr>
            <a:noAutofit/>
          </a:bodyPr>
          <a:lstStyle/>
          <a:p>
            <a:r>
              <a:rPr lang="en-IN" sz="2000" b="1" dirty="0">
                <a:latin typeface="Times New Roman" panose="02020603050405020304" pitchFamily="18" charset="0"/>
                <a:cs typeface="Times New Roman" panose="02020603050405020304" pitchFamily="18" charset="0"/>
              </a:rPr>
              <a:t>Hybrid Scoring Mechanism</a:t>
            </a:r>
            <a:endParaRPr lang="en-IN" sz="2000" dirty="0">
              <a:latin typeface="Times New Roman" panose="02020603050405020304" pitchFamily="18" charset="0"/>
              <a:cs typeface="Times New Roman" panose="02020603050405020304" pitchFamily="18" charset="0"/>
            </a:endParaRPr>
          </a:p>
          <a:p>
            <a:pPr lvl="1"/>
            <a:r>
              <a:rPr lang="en-IN" sz="2000" dirty="0" err="1">
                <a:latin typeface="Times New Roman" panose="02020603050405020304" pitchFamily="18" charset="0"/>
                <a:cs typeface="Times New Roman" panose="02020603050405020304" pitchFamily="18" charset="0"/>
              </a:rPr>
              <a:t>CrossEncoder</a:t>
            </a:r>
            <a:r>
              <a:rPr lang="en-IN" sz="2000" dirty="0">
                <a:latin typeface="Times New Roman" panose="02020603050405020304" pitchFamily="18" charset="0"/>
                <a:cs typeface="Times New Roman" panose="02020603050405020304" pitchFamily="18" charset="0"/>
              </a:rPr>
              <a:t> reranking + keyword coverage + semantic similarity </a:t>
            </a:r>
          </a:p>
          <a:p>
            <a:pPr lvl="1"/>
            <a:r>
              <a:rPr lang="en-IN" sz="2000" dirty="0">
                <a:latin typeface="Times New Roman" panose="02020603050405020304" pitchFamily="18" charset="0"/>
                <a:cs typeface="Times New Roman" panose="02020603050405020304" pitchFamily="18" charset="0"/>
              </a:rPr>
              <a:t>Score calibration using regression model (human-aligned scoring) </a:t>
            </a:r>
          </a:p>
          <a:p>
            <a:r>
              <a:rPr lang="en-IN" sz="2000" b="1" dirty="0">
                <a:latin typeface="Times New Roman" panose="02020603050405020304" pitchFamily="18" charset="0"/>
                <a:cs typeface="Times New Roman" panose="02020603050405020304" pitchFamily="18" charset="0"/>
              </a:rPr>
              <a:t>Reinforcement Learning Adaptation</a:t>
            </a:r>
            <a:endParaRPr lang="en-IN" sz="2000" dirty="0">
              <a:latin typeface="Times New Roman" panose="02020603050405020304" pitchFamily="18" charset="0"/>
              <a:cs typeface="Times New Roman" panose="02020603050405020304" pitchFamily="18" charset="0"/>
            </a:endParaRPr>
          </a:p>
          <a:p>
            <a:pPr lvl="1"/>
            <a:r>
              <a:rPr lang="en-IN" sz="2000" dirty="0">
                <a:latin typeface="Times New Roman" panose="02020603050405020304" pitchFamily="18" charset="0"/>
                <a:cs typeface="Times New Roman" panose="02020603050405020304" pitchFamily="18" charset="0"/>
              </a:rPr>
              <a:t>PPO-based RL agent dynamically adjusts: </a:t>
            </a:r>
          </a:p>
          <a:p>
            <a:pPr lvl="2"/>
            <a:r>
              <a:rPr lang="en-IN" dirty="0">
                <a:latin typeface="Times New Roman" panose="02020603050405020304" pitchFamily="18" charset="0"/>
                <a:cs typeface="Times New Roman" panose="02020603050405020304" pitchFamily="18" charset="0"/>
              </a:rPr>
              <a:t>Question difficulty </a:t>
            </a:r>
          </a:p>
          <a:p>
            <a:pPr lvl="2"/>
            <a:r>
              <a:rPr lang="en-IN" dirty="0">
                <a:latin typeface="Times New Roman" panose="02020603050405020304" pitchFamily="18" charset="0"/>
                <a:cs typeface="Times New Roman" panose="02020603050405020304" pitchFamily="18" charset="0"/>
              </a:rPr>
              <a:t>Topic switching </a:t>
            </a:r>
          </a:p>
          <a:p>
            <a:pPr lvl="2"/>
            <a:r>
              <a:rPr lang="en-IN" dirty="0">
                <a:latin typeface="Times New Roman" panose="02020603050405020304" pitchFamily="18" charset="0"/>
                <a:cs typeface="Times New Roman" panose="02020603050405020304" pitchFamily="18" charset="0"/>
              </a:rPr>
              <a:t>Follow-up depth </a:t>
            </a:r>
          </a:p>
          <a:p>
            <a:pPr lvl="1"/>
            <a:r>
              <a:rPr lang="en-IN" sz="2000" dirty="0">
                <a:latin typeface="Times New Roman" panose="02020603050405020304" pitchFamily="18" charset="0"/>
                <a:cs typeface="Times New Roman" panose="02020603050405020304" pitchFamily="18" charset="0"/>
              </a:rPr>
              <a:t>State includes confidence, stress, performance, and progress </a:t>
            </a:r>
          </a:p>
          <a:p>
            <a:r>
              <a:rPr lang="en-IN" sz="2000" b="1" dirty="0">
                <a:latin typeface="Times New Roman" panose="02020603050405020304" pitchFamily="18" charset="0"/>
                <a:cs typeface="Times New Roman" panose="02020603050405020304" pitchFamily="18" charset="0"/>
              </a:rPr>
              <a:t>Parallel Processing Strategy</a:t>
            </a:r>
            <a:endParaRPr lang="en-IN" sz="2000" dirty="0">
              <a:latin typeface="Times New Roman" panose="02020603050405020304" pitchFamily="18" charset="0"/>
              <a:cs typeface="Times New Roman" panose="02020603050405020304" pitchFamily="18" charset="0"/>
            </a:endParaRPr>
          </a:p>
          <a:p>
            <a:pPr lvl="1"/>
            <a:r>
              <a:rPr lang="en-IN" sz="2000" dirty="0">
                <a:latin typeface="Times New Roman" panose="02020603050405020304" pitchFamily="18" charset="0"/>
                <a:cs typeface="Times New Roman" panose="02020603050405020304" pitchFamily="18" charset="0"/>
              </a:rPr>
              <a:t>Simultaneous execution: </a:t>
            </a:r>
          </a:p>
          <a:p>
            <a:pPr lvl="2"/>
            <a:r>
              <a:rPr lang="en-IN" dirty="0">
                <a:latin typeface="Times New Roman" panose="02020603050405020304" pitchFamily="18" charset="0"/>
                <a:cs typeface="Times New Roman" panose="02020603050405020304" pitchFamily="18" charset="0"/>
              </a:rPr>
              <a:t>Answer evaluation </a:t>
            </a:r>
          </a:p>
          <a:p>
            <a:pPr lvl="2"/>
            <a:r>
              <a:rPr lang="en-IN" dirty="0">
                <a:latin typeface="Times New Roman" panose="02020603050405020304" pitchFamily="18" charset="0"/>
                <a:cs typeface="Times New Roman" panose="02020603050405020304" pitchFamily="18" charset="0"/>
              </a:rPr>
              <a:t>Next question generation </a:t>
            </a:r>
          </a:p>
          <a:p>
            <a:pPr lvl="1"/>
            <a:r>
              <a:rPr lang="en-IN" sz="2000" dirty="0">
                <a:latin typeface="Times New Roman" panose="02020603050405020304" pitchFamily="18" charset="0"/>
                <a:cs typeface="Times New Roman" panose="02020603050405020304" pitchFamily="18" charset="0"/>
              </a:rPr>
              <a:t>Ensures zero idle time during interviews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9121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DE963-8434-AA61-307E-DEE33069B060}"/>
              </a:ext>
            </a:extLst>
          </p:cNvPr>
          <p:cNvSpPr>
            <a:spLocks noGrp="1"/>
          </p:cNvSpPr>
          <p:nvPr>
            <p:ph type="title"/>
          </p:nvPr>
        </p:nvSpPr>
        <p:spPr>
          <a:xfrm>
            <a:off x="838200" y="191389"/>
            <a:ext cx="10515600" cy="622427"/>
          </a:xfrm>
        </p:spPr>
        <p:txBody>
          <a:bodyPr>
            <a:normAutofit/>
          </a:bodyPr>
          <a:lstStyle/>
          <a:p>
            <a:pPr algn="l"/>
            <a:r>
              <a:rPr lang="en-IN" dirty="0">
                <a:latin typeface="Times New Roman" panose="02020603050405020304" pitchFamily="18" charset="0"/>
                <a:cs typeface="Times New Roman" panose="02020603050405020304" pitchFamily="18" charset="0"/>
              </a:rPr>
              <a:t>Cont</a:t>
            </a:r>
            <a:r>
              <a:rPr lang="en-IN" dirty="0"/>
              <a:t>..</a:t>
            </a:r>
          </a:p>
        </p:txBody>
      </p:sp>
      <p:sp>
        <p:nvSpPr>
          <p:cNvPr id="3" name="Content Placeholder 2">
            <a:extLst>
              <a:ext uri="{FF2B5EF4-FFF2-40B4-BE49-F238E27FC236}">
                <a16:creationId xmlns:a16="http://schemas.microsoft.com/office/drawing/2014/main" id="{8A69A766-04CB-41C7-8114-9B7F84EE89B4}"/>
              </a:ext>
            </a:extLst>
          </p:cNvPr>
          <p:cNvSpPr>
            <a:spLocks noGrp="1"/>
          </p:cNvSpPr>
          <p:nvPr>
            <p:ph idx="1"/>
          </p:nvPr>
        </p:nvSpPr>
        <p:spPr>
          <a:xfrm>
            <a:off x="838200" y="646049"/>
            <a:ext cx="10189464" cy="3861943"/>
          </a:xfrm>
        </p:spPr>
        <p:txBody>
          <a:bodyPr>
            <a:noAutofit/>
          </a:bodyPr>
          <a:lstStyle/>
          <a:p>
            <a:r>
              <a:rPr lang="en-IN" sz="1600" b="1" dirty="0">
                <a:latin typeface="Times New Roman" panose="02020603050405020304" pitchFamily="18" charset="0"/>
                <a:cs typeface="Times New Roman" panose="02020603050405020304" pitchFamily="18" charset="0"/>
              </a:rPr>
              <a:t>Multimodal Analysis Engine</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Real-time fusion of: </a:t>
            </a:r>
          </a:p>
          <a:p>
            <a:pPr lvl="2"/>
            <a:r>
              <a:rPr lang="en-IN" dirty="0">
                <a:latin typeface="Times New Roman" panose="02020603050405020304" pitchFamily="18" charset="0"/>
                <a:cs typeface="Times New Roman" panose="02020603050405020304" pitchFamily="18" charset="0"/>
              </a:rPr>
              <a:t>Facial expressions </a:t>
            </a:r>
          </a:p>
          <a:p>
            <a:pPr lvl="2"/>
            <a:r>
              <a:rPr lang="en-IN" dirty="0">
                <a:latin typeface="Times New Roman" panose="02020603050405020304" pitchFamily="18" charset="0"/>
                <a:cs typeface="Times New Roman" panose="02020603050405020304" pitchFamily="18" charset="0"/>
              </a:rPr>
              <a:t>Voice sentiment </a:t>
            </a:r>
          </a:p>
          <a:p>
            <a:pPr lvl="2"/>
            <a:r>
              <a:rPr lang="en-IN" dirty="0">
                <a:latin typeface="Times New Roman" panose="02020603050405020304" pitchFamily="18" charset="0"/>
                <a:cs typeface="Times New Roman" panose="02020603050405020304" pitchFamily="18" charset="0"/>
              </a:rPr>
              <a:t>Eye tracking (gaze FSM) </a:t>
            </a:r>
          </a:p>
          <a:p>
            <a:pPr lvl="2"/>
            <a:r>
              <a:rPr lang="en-IN" dirty="0">
                <a:latin typeface="Times New Roman" panose="02020603050405020304" pitchFamily="18" charset="0"/>
                <a:cs typeface="Times New Roman" panose="02020603050405020304" pitchFamily="18" charset="0"/>
              </a:rPr>
              <a:t>Speech fluency </a:t>
            </a:r>
          </a:p>
          <a:p>
            <a:pPr lvl="1"/>
            <a:r>
              <a:rPr lang="en-IN" sz="1600" dirty="0">
                <a:latin typeface="Times New Roman" panose="02020603050405020304" pitchFamily="18" charset="0"/>
                <a:cs typeface="Times New Roman" panose="02020603050405020304" pitchFamily="18" charset="0"/>
              </a:rPr>
              <a:t>Attention-based temporal fusion with</a:t>
            </a:r>
          </a:p>
          <a:p>
            <a:pPr marL="457200" lvl="1" indent="0">
              <a:buNone/>
            </a:pPr>
            <a:r>
              <a:rPr lang="en-IN" sz="1600" dirty="0">
                <a:latin typeface="Times New Roman" panose="02020603050405020304" pitchFamily="18" charset="0"/>
                <a:cs typeface="Times New Roman" panose="02020603050405020304" pitchFamily="18" charset="0"/>
              </a:rPr>
              <a:t>    sliding window modelling </a:t>
            </a:r>
          </a:p>
          <a:p>
            <a:r>
              <a:rPr lang="en-IN" sz="1600" b="1" dirty="0">
                <a:latin typeface="Times New Roman" panose="02020603050405020304" pitchFamily="18" charset="0"/>
                <a:cs typeface="Times New Roman" panose="02020603050405020304" pitchFamily="18" charset="0"/>
              </a:rPr>
              <a:t>Advanced Proctoring Framework</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Face verification using embeddings </a:t>
            </a:r>
          </a:p>
          <a:p>
            <a:pPr lvl="1"/>
            <a:r>
              <a:rPr lang="en-IN" sz="1600" dirty="0">
                <a:latin typeface="Times New Roman" panose="02020603050405020304" pitchFamily="18" charset="0"/>
                <a:cs typeface="Times New Roman" panose="02020603050405020304" pitchFamily="18" charset="0"/>
              </a:rPr>
              <a:t>YOLO-based object detection </a:t>
            </a:r>
          </a:p>
          <a:p>
            <a:pPr marL="457200" lvl="1" indent="0">
              <a:buNone/>
            </a:pPr>
            <a:r>
              <a:rPr lang="en-IN" sz="1600" dirty="0">
                <a:latin typeface="Times New Roman" panose="02020603050405020304" pitchFamily="18" charset="0"/>
                <a:cs typeface="Times New Roman" panose="02020603050405020304" pitchFamily="18" charset="0"/>
              </a:rPr>
              <a:t>(phone, multiple persons) </a:t>
            </a:r>
          </a:p>
          <a:p>
            <a:pPr lvl="1"/>
            <a:r>
              <a:rPr lang="en-IN" sz="1600" dirty="0">
                <a:latin typeface="Times New Roman" panose="02020603050405020304" pitchFamily="18" charset="0"/>
                <a:cs typeface="Times New Roman" panose="02020603050405020304" pitchFamily="18" charset="0"/>
              </a:rPr>
              <a:t>Risk scoring engine for integrity monitoring </a:t>
            </a:r>
          </a:p>
          <a:p>
            <a:r>
              <a:rPr lang="en-IN" sz="1600" b="1" dirty="0">
                <a:latin typeface="Times New Roman" panose="02020603050405020304" pitchFamily="18" charset="0"/>
                <a:cs typeface="Times New Roman" panose="02020603050405020304" pitchFamily="18" charset="0"/>
              </a:rPr>
              <a:t>Explainability &amp; Feedback Design</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SHAP-based feature attribution for transparent scoring </a:t>
            </a:r>
          </a:p>
          <a:p>
            <a:pPr lvl="1"/>
            <a:r>
              <a:rPr lang="en-IN" sz="1600" dirty="0">
                <a:latin typeface="Times New Roman" panose="02020603050405020304" pitchFamily="18" charset="0"/>
                <a:cs typeface="Times New Roman" panose="02020603050405020304" pitchFamily="18" charset="0"/>
              </a:rPr>
              <a:t>Generates human-readable feedback across 5 dimensions </a:t>
            </a:r>
          </a:p>
          <a:p>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E87A3D4-6BB0-4E91-9584-513CD40E7B6B}"/>
              </a:ext>
            </a:extLst>
          </p:cNvPr>
          <p:cNvPicPr>
            <a:picLocks noChangeAspect="1"/>
          </p:cNvPicPr>
          <p:nvPr/>
        </p:nvPicPr>
        <p:blipFill>
          <a:blip r:embed="rId2">
            <a:extLst>
              <a:ext uri="{28A0092B-C50C-407E-A947-70E740481C1C}">
                <a14:useLocalDpi xmlns:a14="http://schemas.microsoft.com/office/drawing/2010/main" val="0"/>
              </a:ext>
            </a:extLst>
          </a:blip>
          <a:srcRect r="8868"/>
          <a:stretch>
            <a:fillRect/>
          </a:stretch>
        </p:blipFill>
        <p:spPr>
          <a:xfrm>
            <a:off x="6068120" y="578318"/>
            <a:ext cx="5087560" cy="4697770"/>
          </a:xfrm>
          <a:prstGeom prst="rect">
            <a:avLst/>
          </a:prstGeom>
        </p:spPr>
      </p:pic>
      <p:pic>
        <p:nvPicPr>
          <p:cNvPr id="13" name="Picture 12">
            <a:extLst>
              <a:ext uri="{FF2B5EF4-FFF2-40B4-BE49-F238E27FC236}">
                <a16:creationId xmlns:a16="http://schemas.microsoft.com/office/drawing/2014/main" id="{BFD61D86-9688-33DD-2D4C-AB08F8A0E16B}"/>
              </a:ext>
            </a:extLst>
          </p:cNvPr>
          <p:cNvPicPr>
            <a:picLocks noChangeAspect="1"/>
          </p:cNvPicPr>
          <p:nvPr/>
        </p:nvPicPr>
        <p:blipFill>
          <a:blip r:embed="rId3"/>
          <a:stretch>
            <a:fillRect/>
          </a:stretch>
        </p:blipFill>
        <p:spPr>
          <a:xfrm>
            <a:off x="9403080" y="3938684"/>
            <a:ext cx="870719" cy="185351"/>
          </a:xfrm>
          <a:prstGeom prst="rect">
            <a:avLst/>
          </a:prstGeom>
        </p:spPr>
      </p:pic>
      <p:sp>
        <p:nvSpPr>
          <p:cNvPr id="14" name="TextBox 13">
            <a:extLst>
              <a:ext uri="{FF2B5EF4-FFF2-40B4-BE49-F238E27FC236}">
                <a16:creationId xmlns:a16="http://schemas.microsoft.com/office/drawing/2014/main" id="{F3D71106-7768-6F36-B3D5-B461C62CED51}"/>
              </a:ext>
            </a:extLst>
          </p:cNvPr>
          <p:cNvSpPr txBox="1"/>
          <p:nvPr/>
        </p:nvSpPr>
        <p:spPr>
          <a:xfrm>
            <a:off x="9636760" y="3975100"/>
            <a:ext cx="439420" cy="215444"/>
          </a:xfrm>
          <a:prstGeom prst="rect">
            <a:avLst/>
          </a:prstGeom>
          <a:noFill/>
        </p:spPr>
        <p:txBody>
          <a:bodyPr wrap="square" rtlCol="0">
            <a:spAutoFit/>
          </a:bodyPr>
          <a:lstStyle/>
          <a:p>
            <a:r>
              <a:rPr lang="en-IN" sz="800" dirty="0">
                <a:latin typeface="Times New Roman" panose="02020603050405020304" pitchFamily="18" charset="0"/>
                <a:cs typeface="Times New Roman" panose="02020603050405020304" pitchFamily="18" charset="0"/>
              </a:rPr>
              <a:t>LLM </a:t>
            </a:r>
          </a:p>
        </p:txBody>
      </p:sp>
    </p:spTree>
    <p:extLst>
      <p:ext uri="{BB962C8B-B14F-4D97-AF65-F5344CB8AC3E}">
        <p14:creationId xmlns:p14="http://schemas.microsoft.com/office/powerpoint/2010/main" val="4135271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9AAAA-BE8C-8B45-664E-3536144119D2}"/>
              </a:ext>
            </a:extLst>
          </p:cNvPr>
          <p:cNvSpPr>
            <a:spLocks noGrp="1"/>
          </p:cNvSpPr>
          <p:nvPr>
            <p:ph type="title"/>
          </p:nvPr>
        </p:nvSpPr>
        <p:spPr>
          <a:xfrm>
            <a:off x="838200" y="365125"/>
            <a:ext cx="10515600" cy="659003"/>
          </a:xfrm>
        </p:spPr>
        <p:txBody>
          <a:bodyPr>
            <a:normAutofit/>
          </a:bodyPr>
          <a:lstStyle/>
          <a:p>
            <a:r>
              <a:rPr lang="en-IN" dirty="0">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3A5ED36B-5258-0C07-A49B-D344F790C357}"/>
              </a:ext>
            </a:extLst>
          </p:cNvPr>
          <p:cNvSpPr>
            <a:spLocks noGrp="1"/>
          </p:cNvSpPr>
          <p:nvPr>
            <p:ph idx="1"/>
          </p:nvPr>
        </p:nvSpPr>
        <p:spPr>
          <a:xfrm>
            <a:off x="838200" y="1103248"/>
            <a:ext cx="10515600" cy="4913503"/>
          </a:xfrm>
        </p:spPr>
        <p:txBody>
          <a:bodyPr>
            <a:normAutofit fontScale="92500" lnSpcReduction="20000"/>
          </a:bodyPr>
          <a:lstStyle/>
          <a:p>
            <a:pPr>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Tech Stack &amp; Development Environment</a:t>
            </a:r>
          </a:p>
          <a:p>
            <a:pPr lvl="1"/>
            <a:r>
              <a:rPr lang="en-IN" sz="2200" b="1" dirty="0">
                <a:latin typeface="Times New Roman" panose="02020603050405020304" pitchFamily="18" charset="0"/>
                <a:cs typeface="Times New Roman" panose="02020603050405020304" pitchFamily="18" charset="0"/>
              </a:rPr>
              <a:t>Frontend:</a:t>
            </a:r>
            <a:r>
              <a:rPr lang="en-IN" sz="2200" dirty="0">
                <a:latin typeface="Times New Roman" panose="02020603050405020304" pitchFamily="18" charset="0"/>
                <a:cs typeface="Times New Roman" panose="02020603050405020304" pitchFamily="18" charset="0"/>
              </a:rPr>
              <a:t> React 18 (Vite), </a:t>
            </a:r>
            <a:r>
              <a:rPr lang="en-IN" sz="2200" dirty="0" err="1">
                <a:latin typeface="Times New Roman" panose="02020603050405020304" pitchFamily="18" charset="0"/>
                <a:cs typeface="Times New Roman" panose="02020603050405020304" pitchFamily="18" charset="0"/>
              </a:rPr>
              <a:t>TailwindCSS</a:t>
            </a:r>
            <a:r>
              <a:rPr lang="en-IN" sz="2200" dirty="0">
                <a:latin typeface="Times New Roman" panose="02020603050405020304" pitchFamily="18" charset="0"/>
                <a:cs typeface="Times New Roman" panose="02020603050405020304" pitchFamily="18" charset="0"/>
              </a:rPr>
              <a:t>, Recharts — built as a Single Page Application with voice-first UX</a:t>
            </a:r>
          </a:p>
          <a:p>
            <a:pPr lvl="1"/>
            <a:r>
              <a:rPr lang="en-IN" sz="2200" b="1" dirty="0">
                <a:latin typeface="Times New Roman" panose="02020603050405020304" pitchFamily="18" charset="0"/>
                <a:cs typeface="Times New Roman" panose="02020603050405020304" pitchFamily="18" charset="0"/>
              </a:rPr>
              <a:t>Backend:</a:t>
            </a:r>
            <a:r>
              <a:rPr lang="en-IN" sz="2200" dirty="0">
                <a:latin typeface="Times New Roman" panose="02020603050405020304" pitchFamily="18" charset="0"/>
                <a:cs typeface="Times New Roman" panose="02020603050405020304" pitchFamily="18" charset="0"/>
              </a:rPr>
              <a:t> Python 3.11 with </a:t>
            </a:r>
            <a:r>
              <a:rPr lang="en-IN" sz="2200" dirty="0" err="1">
                <a:latin typeface="Times New Roman" panose="02020603050405020304" pitchFamily="18" charset="0"/>
                <a:cs typeface="Times New Roman" panose="02020603050405020304" pitchFamily="18" charset="0"/>
              </a:rPr>
              <a:t>FastAPI</a:t>
            </a:r>
            <a:r>
              <a:rPr lang="en-IN" sz="2200" dirty="0">
                <a:latin typeface="Times New Roman" panose="02020603050405020304" pitchFamily="18" charset="0"/>
                <a:cs typeface="Times New Roman" panose="02020603050405020304" pitchFamily="18" charset="0"/>
              </a:rPr>
              <a:t> (async), </a:t>
            </a:r>
            <a:r>
              <a:rPr lang="en-IN" sz="2200" dirty="0" err="1">
                <a:latin typeface="Times New Roman" panose="02020603050405020304" pitchFamily="18" charset="0"/>
                <a:cs typeface="Times New Roman" panose="02020603050405020304" pitchFamily="18" charset="0"/>
              </a:rPr>
              <a:t>Uvicorn</a:t>
            </a:r>
            <a:r>
              <a:rPr lang="en-IN" sz="2200" dirty="0">
                <a:latin typeface="Times New Roman" panose="02020603050405020304" pitchFamily="18" charset="0"/>
                <a:cs typeface="Times New Roman" panose="02020603050405020304" pitchFamily="18" charset="0"/>
              </a:rPr>
              <a:t> ASGI server, Motor (async MongoDB driver)</a:t>
            </a:r>
          </a:p>
          <a:p>
            <a:pPr lvl="1"/>
            <a:r>
              <a:rPr lang="en-IN" sz="2200" b="1" dirty="0">
                <a:latin typeface="Times New Roman" panose="02020603050405020304" pitchFamily="18" charset="0"/>
                <a:cs typeface="Times New Roman" panose="02020603050405020304" pitchFamily="18" charset="0"/>
              </a:rPr>
              <a:t>Database:</a:t>
            </a:r>
            <a:r>
              <a:rPr lang="en-IN" sz="2200" dirty="0">
                <a:latin typeface="Times New Roman" panose="02020603050405020304" pitchFamily="18" charset="0"/>
                <a:cs typeface="Times New Roman" panose="02020603050405020304" pitchFamily="18" charset="0"/>
              </a:rPr>
              <a:t> MongoDB Atlas — stores sessions, questions, responses, proctoring logs, and user profiles</a:t>
            </a:r>
          </a:p>
          <a:p>
            <a:pPr lvl="1"/>
            <a:r>
              <a:rPr lang="en-IN" sz="2200" b="1" dirty="0">
                <a:latin typeface="Times New Roman" panose="02020603050405020304" pitchFamily="18" charset="0"/>
                <a:cs typeface="Times New Roman" panose="02020603050405020304" pitchFamily="18" charset="0"/>
              </a:rPr>
              <a:t>LLM Chain:</a:t>
            </a:r>
            <a:r>
              <a:rPr lang="en-IN" sz="2200" dirty="0">
                <a:latin typeface="Times New Roman" panose="02020603050405020304" pitchFamily="18" charset="0"/>
                <a:cs typeface="Times New Roman" panose="02020603050405020304" pitchFamily="18" charset="0"/>
              </a:rPr>
              <a:t> Gemini 2.5 Flash (primary) → </a:t>
            </a:r>
            <a:r>
              <a:rPr lang="en-IN" sz="2200" dirty="0" err="1">
                <a:latin typeface="Times New Roman" panose="02020603050405020304" pitchFamily="18" charset="0"/>
                <a:cs typeface="Times New Roman" panose="02020603050405020304" pitchFamily="18" charset="0"/>
              </a:rPr>
              <a:t>OpenRouter</a:t>
            </a:r>
            <a:r>
              <a:rPr lang="en-IN" sz="2200" dirty="0">
                <a:latin typeface="Times New Roman" panose="02020603050405020304" pitchFamily="18" charset="0"/>
                <a:cs typeface="Times New Roman" panose="02020603050405020304" pitchFamily="18" charset="0"/>
              </a:rPr>
              <a:t> free models → </a:t>
            </a:r>
            <a:r>
              <a:rPr lang="en-IN" sz="2200" dirty="0" err="1">
                <a:latin typeface="Times New Roman" panose="02020603050405020304" pitchFamily="18" charset="0"/>
                <a:cs typeface="Times New Roman" panose="02020603050405020304" pitchFamily="18" charset="0"/>
              </a:rPr>
              <a:t>vLLM</a:t>
            </a:r>
            <a:r>
              <a:rPr lang="en-IN" sz="2200" dirty="0">
                <a:latin typeface="Times New Roman" panose="02020603050405020304" pitchFamily="18" charset="0"/>
                <a:cs typeface="Times New Roman" panose="02020603050405020304" pitchFamily="18" charset="0"/>
              </a:rPr>
              <a:t> self-hosted on Modal GPU</a:t>
            </a:r>
          </a:p>
          <a:p>
            <a:pPr lvl="1"/>
            <a:r>
              <a:rPr lang="en-IN" sz="2200" b="1" dirty="0">
                <a:latin typeface="Times New Roman" panose="02020603050405020304" pitchFamily="18" charset="0"/>
                <a:cs typeface="Times New Roman" panose="02020603050405020304" pitchFamily="18" charset="0"/>
              </a:rPr>
              <a:t>ML Libraries:</a:t>
            </a:r>
            <a:r>
              <a:rPr lang="en-IN" sz="2200" dirty="0">
                <a:latin typeface="Times New Roman" panose="02020603050405020304" pitchFamily="18" charset="0"/>
                <a:cs typeface="Times New Roman" panose="02020603050405020304" pitchFamily="18" charset="0"/>
              </a:rPr>
              <a:t> sentence-transformers (all-MiniLM-L6-v2), scikit-learn (</a:t>
            </a:r>
            <a:r>
              <a:rPr lang="en-IN" sz="2200" dirty="0" err="1">
                <a:latin typeface="Times New Roman" panose="02020603050405020304" pitchFamily="18" charset="0"/>
                <a:cs typeface="Times New Roman" panose="02020603050405020304" pitchFamily="18" charset="0"/>
              </a:rPr>
              <a:t>CrossEncoder</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IsotonicRegression</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DeepFace</a:t>
            </a:r>
            <a:r>
              <a:rPr lang="en-IN" sz="2200" dirty="0">
                <a:latin typeface="Times New Roman" panose="02020603050405020304" pitchFamily="18" charset="0"/>
                <a:cs typeface="Times New Roman" panose="02020603050405020304" pitchFamily="18" charset="0"/>
              </a:rPr>
              <a:t>, YOLOv8 (</a:t>
            </a:r>
            <a:r>
              <a:rPr lang="en-IN" sz="2200" dirty="0" err="1">
                <a:latin typeface="Times New Roman" panose="02020603050405020304" pitchFamily="18" charset="0"/>
                <a:cs typeface="Times New Roman" panose="02020603050405020304" pitchFamily="18" charset="0"/>
              </a:rPr>
              <a:t>Ultralytics</a:t>
            </a:r>
            <a:r>
              <a:rPr lang="en-IN" sz="2200" dirty="0">
                <a:latin typeface="Times New Roman" panose="02020603050405020304" pitchFamily="18" charset="0"/>
                <a:cs typeface="Times New Roman" panose="02020603050405020304" pitchFamily="18" charset="0"/>
              </a:rPr>
              <a:t>)</a:t>
            </a:r>
          </a:p>
          <a:p>
            <a:pPr lvl="1"/>
            <a:r>
              <a:rPr lang="en-IN" sz="2200" b="1" dirty="0">
                <a:latin typeface="Times New Roman" panose="02020603050405020304" pitchFamily="18" charset="0"/>
                <a:cs typeface="Times New Roman" panose="02020603050405020304" pitchFamily="18" charset="0"/>
              </a:rPr>
              <a:t>Speech Pipeline:</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Vosk</a:t>
            </a:r>
            <a:r>
              <a:rPr lang="en-IN" sz="2200" dirty="0">
                <a:latin typeface="Times New Roman" panose="02020603050405020304" pitchFamily="18" charset="0"/>
                <a:cs typeface="Times New Roman" panose="02020603050405020304" pitchFamily="18" charset="0"/>
              </a:rPr>
              <a:t> STT (server-side, real-time PCM streaming via WebSocket) + Web Speech API fallback; TTS via browser </a:t>
            </a:r>
            <a:r>
              <a:rPr lang="en-IN" sz="2200" dirty="0" err="1">
                <a:latin typeface="Times New Roman" panose="02020603050405020304" pitchFamily="18" charset="0"/>
                <a:cs typeface="Times New Roman" panose="02020603050405020304" pitchFamily="18" charset="0"/>
              </a:rPr>
              <a:t>SpeechSynthesis</a:t>
            </a:r>
            <a:endParaRPr lang="en-IN" sz="2200" dirty="0">
              <a:latin typeface="Times New Roman" panose="02020603050405020304" pitchFamily="18" charset="0"/>
              <a:cs typeface="Times New Roman" panose="02020603050405020304" pitchFamily="18" charset="0"/>
            </a:endParaRPr>
          </a:p>
          <a:p>
            <a:pPr lvl="1"/>
            <a:r>
              <a:rPr lang="en-IN" sz="2200" b="1" dirty="0">
                <a:latin typeface="Times New Roman" panose="02020603050405020304" pitchFamily="18" charset="0"/>
                <a:cs typeface="Times New Roman" panose="02020603050405020304" pitchFamily="18" charset="0"/>
              </a:rPr>
              <a:t>Real-Time Video Monitoring:</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LiveKit</a:t>
            </a:r>
            <a:r>
              <a:rPr lang="en-IN" sz="2200" dirty="0">
                <a:latin typeface="Times New Roman" panose="02020603050405020304" pitchFamily="18" charset="0"/>
                <a:cs typeface="Times New Roman" panose="02020603050405020304" pitchFamily="18" charset="0"/>
              </a:rPr>
              <a:t> Cloud for WebRTC-based HR monitoring dashboard</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3543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6FB3B-ADEB-0399-5BB0-0DAC3645B64C}"/>
              </a:ext>
            </a:extLst>
          </p:cNvPr>
          <p:cNvSpPr>
            <a:spLocks noGrp="1"/>
          </p:cNvSpPr>
          <p:nvPr>
            <p:ph type="title"/>
          </p:nvPr>
        </p:nvSpPr>
        <p:spPr>
          <a:xfrm>
            <a:off x="838200" y="365125"/>
            <a:ext cx="10515600" cy="668147"/>
          </a:xfrm>
        </p:spPr>
        <p:txBody>
          <a:bodyPr>
            <a:normAutofit/>
          </a:bodyPr>
          <a:lstStyle/>
          <a:p>
            <a:pPr algn="l"/>
            <a:r>
              <a:rPr lang="en-IN" dirty="0">
                <a:latin typeface="Times New Roman" panose="02020603050405020304" pitchFamily="18" charset="0"/>
                <a:cs typeface="Times New Roman" panose="02020603050405020304" pitchFamily="18" charset="0"/>
              </a:rPr>
              <a:t>Cont</a:t>
            </a:r>
            <a:r>
              <a:rPr lang="en-IN" dirty="0"/>
              <a:t>..</a:t>
            </a:r>
          </a:p>
        </p:txBody>
      </p:sp>
      <p:sp>
        <p:nvSpPr>
          <p:cNvPr id="3" name="Content Placeholder 2">
            <a:extLst>
              <a:ext uri="{FF2B5EF4-FFF2-40B4-BE49-F238E27FC236}">
                <a16:creationId xmlns:a16="http://schemas.microsoft.com/office/drawing/2014/main" id="{0B7DDFED-033A-50F3-03EF-88B26252F123}"/>
              </a:ext>
            </a:extLst>
          </p:cNvPr>
          <p:cNvSpPr>
            <a:spLocks noGrp="1"/>
          </p:cNvSpPr>
          <p:nvPr>
            <p:ph idx="1"/>
          </p:nvPr>
        </p:nvSpPr>
        <p:spPr>
          <a:xfrm>
            <a:off x="838200" y="1121537"/>
            <a:ext cx="10515600" cy="4351338"/>
          </a:xfrm>
        </p:spPr>
        <p:txBody>
          <a:bodyPr>
            <a:noAutofit/>
          </a:bodyPr>
          <a:lstStyle/>
          <a:p>
            <a:pPr>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LLM Question Generation</a:t>
            </a:r>
          </a:p>
          <a:p>
            <a:pPr lvl="1"/>
            <a:r>
              <a:rPr lang="en-US" dirty="0">
                <a:latin typeface="Times New Roman" panose="02020603050405020304" pitchFamily="18" charset="0"/>
                <a:cs typeface="Times New Roman" panose="02020603050405020304" pitchFamily="18" charset="0"/>
              </a:rPr>
              <a:t>Four dedicated generator functions in question_generation_service.py: </a:t>
            </a:r>
            <a:r>
              <a:rPr lang="en-US" dirty="0" err="1">
                <a:latin typeface="Times New Roman" panose="02020603050405020304" pitchFamily="18" charset="0"/>
                <a:cs typeface="Times New Roman" panose="02020603050405020304" pitchFamily="18" charset="0"/>
              </a:rPr>
              <a:t>generate_behavioral_question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generate_technical_question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generate_situational_question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generate_cultural_fit_question</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Each function calls </a:t>
            </a:r>
            <a:r>
              <a:rPr lang="en-US" dirty="0" err="1">
                <a:latin typeface="Times New Roman" panose="02020603050405020304" pitchFamily="18" charset="0"/>
                <a:cs typeface="Times New Roman" panose="02020603050405020304" pitchFamily="18" charset="0"/>
              </a:rPr>
              <a:t>model_registry.llm_generate</a:t>
            </a:r>
            <a:r>
              <a:rPr lang="en-US" dirty="0">
                <a:latin typeface="Times New Roman" panose="02020603050405020304" pitchFamily="18" charset="0"/>
                <a:cs typeface="Times New Roman" panose="02020603050405020304" pitchFamily="18" charset="0"/>
              </a:rPr>
              <a:t>() with a structured prompt enforcing a strict JSON output schema containing question, </a:t>
            </a:r>
            <a:r>
              <a:rPr lang="en-US" dirty="0" err="1">
                <a:latin typeface="Times New Roman" panose="02020603050405020304" pitchFamily="18" charset="0"/>
                <a:cs typeface="Times New Roman" panose="02020603050405020304" pitchFamily="18" charset="0"/>
              </a:rPr>
              <a:t>ideal_answer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evaluation_keywords</a:t>
            </a:r>
            <a:r>
              <a:rPr lang="en-US" dirty="0">
                <a:latin typeface="Times New Roman" panose="02020603050405020304" pitchFamily="18" charset="0"/>
                <a:cs typeface="Times New Roman" panose="02020603050405020304" pitchFamily="18" charset="0"/>
              </a:rPr>
              <a:t>, and follow-up conditions</a:t>
            </a:r>
          </a:p>
          <a:p>
            <a:pPr lvl="1"/>
            <a:r>
              <a:rPr lang="en-US" dirty="0" err="1">
                <a:latin typeface="Times New Roman" panose="02020603050405020304" pitchFamily="18" charset="0"/>
                <a:cs typeface="Times New Roman" panose="02020603050405020304" pitchFamily="18" charset="0"/>
              </a:rPr>
              <a:t>generate_question_smart</a:t>
            </a:r>
            <a:r>
              <a:rPr lang="en-US" dirty="0">
                <a:latin typeface="Times New Roman" panose="02020603050405020304" pitchFamily="18" charset="0"/>
                <a:cs typeface="Times New Roman" panose="02020603050405020304" pitchFamily="18" charset="0"/>
              </a:rPr>
              <a:t>() acts as the router — selects model based on </a:t>
            </a:r>
            <a:r>
              <a:rPr lang="en-US" dirty="0" err="1">
                <a:latin typeface="Times New Roman" panose="02020603050405020304" pitchFamily="18" charset="0"/>
                <a:cs typeface="Times New Roman" panose="02020603050405020304" pitchFamily="18" charset="0"/>
              </a:rPr>
              <a:t>question_number</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total_planned</a:t>
            </a:r>
            <a:r>
              <a:rPr lang="en-US" dirty="0">
                <a:latin typeface="Times New Roman" panose="02020603050405020304" pitchFamily="18" charset="0"/>
                <a:cs typeface="Times New Roman" panose="02020603050405020304" pitchFamily="18" charset="0"/>
              </a:rPr>
              <a:t> ratio (progress %) and round type (Technical / HR)</a:t>
            </a:r>
          </a:p>
          <a:p>
            <a:pPr lvl="1"/>
            <a:r>
              <a:rPr lang="en-US" b="1" dirty="0">
                <a:latin typeface="Times New Roman" panose="02020603050405020304" pitchFamily="18" charset="0"/>
                <a:cs typeface="Times New Roman" panose="02020603050405020304" pitchFamily="18" charset="0"/>
              </a:rPr>
              <a:t>Coding question injection logic:</a:t>
            </a:r>
            <a:r>
              <a:rPr lang="en-US" dirty="0">
                <a:latin typeface="Times New Roman" panose="02020603050405020304" pitchFamily="18" charset="0"/>
                <a:cs typeface="Times New Roman" panose="02020603050405020304" pitchFamily="18" charset="0"/>
              </a:rPr>
              <a:t> max 2 coding questions per session; probability decays with each coding Q asked</a:t>
            </a:r>
          </a:p>
          <a:p>
            <a:pPr lvl="1"/>
            <a:r>
              <a:rPr lang="en-US" b="1" dirty="0">
                <a:latin typeface="Times New Roman" panose="02020603050405020304" pitchFamily="18" charset="0"/>
                <a:cs typeface="Times New Roman" panose="02020603050405020304" pitchFamily="18" charset="0"/>
              </a:rPr>
              <a:t>Redundancy check:</a:t>
            </a:r>
            <a:r>
              <a:rPr lang="en-US" dirty="0">
                <a:latin typeface="Times New Roman" panose="02020603050405020304" pitchFamily="18" charset="0"/>
                <a:cs typeface="Times New Roman" panose="02020603050405020304" pitchFamily="18" charset="0"/>
              </a:rPr>
              <a:t> New question embedding compared to all previous via cosine similarity; threshold = 0.75; rejected and regenerated if too similar</a:t>
            </a:r>
          </a:p>
          <a:p>
            <a:pPr lvl="1"/>
            <a:r>
              <a:rPr lang="en-US" b="1" dirty="0">
                <a:latin typeface="Times New Roman" panose="02020603050405020304" pitchFamily="18" charset="0"/>
                <a:cs typeface="Times New Roman" panose="02020603050405020304" pitchFamily="18" charset="0"/>
              </a:rPr>
              <a:t>JD analysis pipeline: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analyze_job_description</a:t>
            </a:r>
            <a:r>
              <a:rPr lang="en-US" dirty="0">
                <a:latin typeface="Times New Roman" panose="02020603050405020304" pitchFamily="18" charset="0"/>
                <a:cs typeface="Times New Roman" panose="02020603050405020304" pitchFamily="18" charset="0"/>
              </a:rPr>
              <a:t>() extracts </a:t>
            </a:r>
            <a:r>
              <a:rPr lang="en-US" dirty="0" err="1">
                <a:latin typeface="Times New Roman" panose="02020603050405020304" pitchFamily="18" charset="0"/>
                <a:cs typeface="Times New Roman" panose="02020603050405020304" pitchFamily="18" charset="0"/>
              </a:rPr>
              <a:t>required_skills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technical_topics</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hr_topics</a:t>
            </a:r>
            <a:r>
              <a:rPr lang="en-US" dirty="0">
                <a:latin typeface="Times New Roman" panose="02020603050405020304" pitchFamily="18" charset="0"/>
                <a:cs typeface="Times New Roman" panose="02020603050405020304" pitchFamily="18" charset="0"/>
              </a:rPr>
              <a:t> from the JD text and injects them into every prompt</a:t>
            </a:r>
          </a:p>
          <a:p>
            <a:pPr lvl="1"/>
            <a:r>
              <a:rPr lang="en-US" b="1" dirty="0">
                <a:latin typeface="Times New Roman" panose="02020603050405020304" pitchFamily="18" charset="0"/>
                <a:cs typeface="Times New Roman" panose="02020603050405020304" pitchFamily="18" charset="0"/>
              </a:rPr>
              <a:t>Fallback on LLM failure:</a:t>
            </a:r>
            <a:r>
              <a:rPr lang="en-US" dirty="0">
                <a:latin typeface="Times New Roman" panose="02020603050405020304" pitchFamily="18" charset="0"/>
                <a:cs typeface="Times New Roman" panose="02020603050405020304" pitchFamily="18" charset="0"/>
              </a:rPr>
              <a:t> Predefined static question pools per round type are used if all LLM providers fail</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9825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4E613-D299-B761-B115-5AD7EC8A505B}"/>
              </a:ext>
            </a:extLst>
          </p:cNvPr>
          <p:cNvSpPr>
            <a:spLocks noGrp="1"/>
          </p:cNvSpPr>
          <p:nvPr>
            <p:ph type="title"/>
          </p:nvPr>
        </p:nvSpPr>
        <p:spPr>
          <a:xfrm>
            <a:off x="682752" y="154813"/>
            <a:ext cx="10515600" cy="805307"/>
          </a:xfrm>
        </p:spPr>
        <p:txBody>
          <a:bodyPr/>
          <a:lstStyle/>
          <a:p>
            <a:pPr algn="l"/>
            <a:r>
              <a:rPr lang="en-IN"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52B381B0-2C6F-8799-E80D-0947AA47F3C2}"/>
              </a:ext>
            </a:extLst>
          </p:cNvPr>
          <p:cNvSpPr>
            <a:spLocks noGrp="1"/>
          </p:cNvSpPr>
          <p:nvPr>
            <p:ph idx="1"/>
          </p:nvPr>
        </p:nvSpPr>
        <p:spPr>
          <a:xfrm>
            <a:off x="838200" y="1167257"/>
            <a:ext cx="10515600" cy="4351338"/>
          </a:xfrm>
        </p:spPr>
        <p:txBody>
          <a:bodyPr>
            <a:noAutofit/>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Two-Phase Answer Evaluation</a:t>
            </a:r>
          </a:p>
          <a:p>
            <a:pPr lvl="1"/>
            <a:r>
              <a:rPr lang="en-IN" b="1" dirty="0">
                <a:latin typeface="Times New Roman" panose="02020603050405020304" pitchFamily="18" charset="0"/>
                <a:cs typeface="Times New Roman" panose="02020603050405020304" pitchFamily="18" charset="0"/>
              </a:rPr>
              <a:t>Phase 1 (Instant, &lt;2s):</a:t>
            </a:r>
            <a:r>
              <a:rPr lang="en-IN" dirty="0">
                <a:latin typeface="Times New Roman" panose="02020603050405020304" pitchFamily="18" charset="0"/>
                <a:cs typeface="Times New Roman" panose="02020603050405020304" pitchFamily="18" charset="0"/>
              </a:rPr>
              <a:t> Runs entirely on local models — no LLM call; uses </a:t>
            </a:r>
            <a:r>
              <a:rPr lang="en-IN" dirty="0" err="1">
                <a:latin typeface="Times New Roman" panose="02020603050405020304" pitchFamily="18" charset="0"/>
                <a:cs typeface="Times New Roman" panose="02020603050405020304" pitchFamily="18" charset="0"/>
              </a:rPr>
              <a:t>CrossEncoder</a:t>
            </a:r>
            <a:r>
              <a:rPr lang="en-IN" dirty="0">
                <a:latin typeface="Times New Roman" panose="02020603050405020304" pitchFamily="18" charset="0"/>
                <a:cs typeface="Times New Roman" panose="02020603050405020304" pitchFamily="18" charset="0"/>
              </a:rPr>
              <a:t> ms-marco-MiniLM-L-6-v2 for content scoring; </a:t>
            </a:r>
            <a:r>
              <a:rPr lang="en-IN" dirty="0" err="1">
                <a:latin typeface="Times New Roman" panose="02020603050405020304" pitchFamily="18" charset="0"/>
                <a:cs typeface="Times New Roman" panose="02020603050405020304" pitchFamily="18" charset="0"/>
              </a:rPr>
              <a:t>SentenceTransformer</a:t>
            </a:r>
            <a:r>
              <a:rPr lang="en-IN" dirty="0">
                <a:latin typeface="Times New Roman" panose="02020603050405020304" pitchFamily="18" charset="0"/>
                <a:cs typeface="Times New Roman" panose="02020603050405020304" pitchFamily="18" charset="0"/>
              </a:rPr>
              <a:t> for keyword embedding matching with WordNet synonym expansion</a:t>
            </a:r>
          </a:p>
          <a:p>
            <a:pPr lvl="1"/>
            <a:r>
              <a:rPr lang="en-IN" b="1" dirty="0">
                <a:latin typeface="Times New Roman" panose="02020603050405020304" pitchFamily="18" charset="0"/>
                <a:cs typeface="Times New Roman" panose="02020603050405020304" pitchFamily="18" charset="0"/>
              </a:rPr>
              <a:t>Communication score</a:t>
            </a:r>
            <a:r>
              <a:rPr lang="en-IN" dirty="0">
                <a:latin typeface="Times New Roman" panose="02020603050405020304" pitchFamily="18" charset="0"/>
                <a:cs typeface="Times New Roman" panose="02020603050405020304" pitchFamily="18" charset="0"/>
              </a:rPr>
              <a:t> computed via heuristic: word count → sentence count → structural marker detection (e.g., "firstly", "therefore", "for example")</a:t>
            </a:r>
          </a:p>
          <a:p>
            <a:pPr lvl="1"/>
            <a:r>
              <a:rPr lang="en-IN" b="1" dirty="0">
                <a:latin typeface="Times New Roman" panose="02020603050405020304" pitchFamily="18" charset="0"/>
                <a:cs typeface="Times New Roman" panose="02020603050405020304" pitchFamily="18" charset="0"/>
              </a:rPr>
              <a:t>Confidence score: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analyze_text_confidence</a:t>
            </a:r>
            <a:r>
              <a:rPr lang="en-IN" dirty="0">
                <a:latin typeface="Times New Roman" panose="02020603050405020304" pitchFamily="18" charset="0"/>
                <a:cs typeface="Times New Roman" panose="02020603050405020304" pitchFamily="18" charset="0"/>
              </a:rPr>
              <a:t>() counts hedging words (maybe, I think, sort of) and absolute words (definitely, always) to infer conviction level</a:t>
            </a:r>
          </a:p>
          <a:p>
            <a:pPr lvl="1"/>
            <a:r>
              <a:rPr lang="en-IN" b="1" dirty="0">
                <a:latin typeface="Times New Roman" panose="02020603050405020304" pitchFamily="18" charset="0"/>
                <a:cs typeface="Times New Roman" panose="02020603050405020304" pitchFamily="18" charset="0"/>
              </a:rPr>
              <a:t>Phase 2 (Deep, background async):</a:t>
            </a:r>
            <a:r>
              <a:rPr lang="en-IN" dirty="0">
                <a:latin typeface="Times New Roman" panose="02020603050405020304" pitchFamily="18" charset="0"/>
                <a:cs typeface="Times New Roman" panose="02020603050405020304" pitchFamily="18" charset="0"/>
              </a:rPr>
              <a:t> _</a:t>
            </a:r>
            <a:r>
              <a:rPr lang="en-IN" dirty="0" err="1">
                <a:latin typeface="Times New Roman" panose="02020603050405020304" pitchFamily="18" charset="0"/>
                <a:cs typeface="Times New Roman" panose="02020603050405020304" pitchFamily="18" charset="0"/>
              </a:rPr>
              <a:t>evaluate_rubric</a:t>
            </a:r>
            <a:r>
              <a:rPr lang="en-IN" dirty="0">
                <a:latin typeface="Times New Roman" panose="02020603050405020304" pitchFamily="18" charset="0"/>
                <a:cs typeface="Times New Roman" panose="02020603050405020304" pitchFamily="18" charset="0"/>
              </a:rPr>
              <a:t>() calls Gemini with a 5-dimension rubric (accuracy, completeness, depth, relevance, clarity); combined as weighted sum</a:t>
            </a:r>
          </a:p>
          <a:p>
            <a:pPr lvl="1"/>
            <a:r>
              <a:rPr lang="en-IN" b="1" dirty="0">
                <a:latin typeface="Times New Roman" panose="02020603050405020304" pitchFamily="18" charset="0"/>
                <a:cs typeface="Times New Roman" panose="02020603050405020304" pitchFamily="18" charset="0"/>
              </a:rPr>
              <a:t>Score calibration: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ScoreCalibrator</a:t>
            </a:r>
            <a:r>
              <a:rPr lang="en-IN" dirty="0">
                <a:latin typeface="Times New Roman" panose="02020603050405020304" pitchFamily="18" charset="0"/>
                <a:cs typeface="Times New Roman" panose="02020603050405020304" pitchFamily="18" charset="0"/>
              </a:rPr>
              <a:t> uses </a:t>
            </a:r>
            <a:r>
              <a:rPr lang="en-IN" dirty="0" err="1">
                <a:latin typeface="Times New Roman" panose="02020603050405020304" pitchFamily="18" charset="0"/>
                <a:cs typeface="Times New Roman" panose="02020603050405020304" pitchFamily="18" charset="0"/>
              </a:rPr>
              <a:t>IsotonicRegression</a:t>
            </a:r>
            <a:r>
              <a:rPr lang="en-IN" dirty="0">
                <a:latin typeface="Times New Roman" panose="02020603050405020304" pitchFamily="18" charset="0"/>
                <a:cs typeface="Times New Roman" panose="02020603050405020304" pitchFamily="18" charset="0"/>
              </a:rPr>
              <a:t> trained on 50-sample human-expert validation dataset to correct AI politeness bias</a:t>
            </a:r>
          </a:p>
          <a:p>
            <a:pPr lvl="1"/>
            <a:r>
              <a:rPr lang="en-IN" b="1" dirty="0">
                <a:latin typeface="Times New Roman" panose="02020603050405020304" pitchFamily="18" charset="0"/>
                <a:cs typeface="Times New Roman" panose="02020603050405020304" pitchFamily="18" charset="0"/>
              </a:rPr>
              <a:t>Background enrichment:</a:t>
            </a:r>
            <a:r>
              <a:rPr lang="en-IN" dirty="0">
                <a:latin typeface="Times New Roman" panose="02020603050405020304" pitchFamily="18" charset="0"/>
                <a:cs typeface="Times New Roman" panose="02020603050405020304" pitchFamily="18" charset="0"/>
              </a:rPr>
              <a:t> _</a:t>
            </a:r>
            <a:r>
              <a:rPr lang="en-IN" dirty="0" err="1">
                <a:latin typeface="Times New Roman" panose="02020603050405020304" pitchFamily="18" charset="0"/>
                <a:cs typeface="Times New Roman" panose="02020603050405020304" pitchFamily="18" charset="0"/>
              </a:rPr>
              <a:t>enrich_evaluation_in_background</a:t>
            </a:r>
            <a:r>
              <a:rPr lang="en-IN" dirty="0">
                <a:latin typeface="Times New Roman" panose="02020603050405020304" pitchFamily="18" charset="0"/>
                <a:cs typeface="Times New Roman" panose="02020603050405020304" pitchFamily="18" charset="0"/>
              </a:rPr>
              <a:t>() runs as a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BackgroundTask</a:t>
            </a:r>
            <a:r>
              <a:rPr lang="en-IN" dirty="0">
                <a:latin typeface="Times New Roman" panose="02020603050405020304" pitchFamily="18" charset="0"/>
                <a:cs typeface="Times New Roman" panose="02020603050405020304" pitchFamily="18" charset="0"/>
              </a:rPr>
              <a:t> — updates the MongoDB document with deep scores without blocking response</a:t>
            </a:r>
          </a:p>
        </p:txBody>
      </p:sp>
    </p:spTree>
    <p:extLst>
      <p:ext uri="{BB962C8B-B14F-4D97-AF65-F5344CB8AC3E}">
        <p14:creationId xmlns:p14="http://schemas.microsoft.com/office/powerpoint/2010/main" val="3730595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6062A-9793-7F54-AF6E-D50095DDB68C}"/>
              </a:ext>
            </a:extLst>
          </p:cNvPr>
          <p:cNvSpPr>
            <a:spLocks noGrp="1"/>
          </p:cNvSpPr>
          <p:nvPr>
            <p:ph type="title"/>
          </p:nvPr>
        </p:nvSpPr>
        <p:spPr>
          <a:xfrm>
            <a:off x="838200" y="282829"/>
            <a:ext cx="10515600" cy="320675"/>
          </a:xfrm>
        </p:spPr>
        <p:txBody>
          <a:bodyPr>
            <a:normAutofit fontScale="90000"/>
          </a:bodyPr>
          <a:lstStyle/>
          <a:p>
            <a:pPr algn="l"/>
            <a:r>
              <a:rPr lang="en-IN"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4B3C2722-D1E4-6585-E458-DD2CFC3BD18F}"/>
              </a:ext>
            </a:extLst>
          </p:cNvPr>
          <p:cNvSpPr>
            <a:spLocks noGrp="1"/>
          </p:cNvSpPr>
          <p:nvPr>
            <p:ph idx="1"/>
          </p:nvPr>
        </p:nvSpPr>
        <p:spPr>
          <a:xfrm>
            <a:off x="838200" y="704088"/>
            <a:ext cx="10966704" cy="7296912"/>
          </a:xfrm>
        </p:spPr>
        <p:txBody>
          <a:bodyPr>
            <a:noAutofit/>
          </a:bodyPr>
          <a:lstStyle/>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RL Adaptation — From Theory to Code</a:t>
            </a:r>
          </a:p>
          <a:p>
            <a:pPr lvl="1">
              <a:lnSpc>
                <a:spcPct val="120000"/>
              </a:lnSpc>
            </a:pPr>
            <a:r>
              <a:rPr lang="en-IN" sz="1800" b="1" dirty="0">
                <a:latin typeface="Times New Roman" panose="02020603050405020304" pitchFamily="18" charset="0"/>
                <a:cs typeface="Times New Roman" panose="02020603050405020304" pitchFamily="18" charset="0"/>
              </a:rPr>
              <a:t>Environment:</a:t>
            </a:r>
            <a:r>
              <a:rPr lang="en-IN" sz="1800" dirty="0">
                <a:latin typeface="Times New Roman" panose="02020603050405020304" pitchFamily="18" charset="0"/>
                <a:cs typeface="Times New Roman" panose="02020603050405020304" pitchFamily="18" charset="0"/>
              </a:rPr>
              <a:t> </a:t>
            </a:r>
            <a:r>
              <a:rPr lang="en-IN" sz="1800">
                <a:latin typeface="Times New Roman" panose="02020603050405020304" pitchFamily="18" charset="0"/>
                <a:cs typeface="Times New Roman" panose="02020603050405020304" pitchFamily="18" charset="0"/>
              </a:rPr>
              <a:t>InterviewEnvironment, </a:t>
            </a:r>
            <a:r>
              <a:rPr lang="en-IN" sz="1800" dirty="0">
                <a:latin typeface="Times New Roman" panose="02020603050405020304" pitchFamily="18" charset="0"/>
                <a:cs typeface="Times New Roman" panose="02020603050405020304" pitchFamily="18" charset="0"/>
              </a:rPr>
              <a:t>8D state: confidence, performance, stress,  difficulty, time, coverage, streak </a:t>
            </a:r>
          </a:p>
          <a:p>
            <a:pPr lvl="1">
              <a:lnSpc>
                <a:spcPct val="120000"/>
              </a:lnSpc>
            </a:pPr>
            <a:r>
              <a:rPr lang="en-IN" sz="1800" b="1" dirty="0">
                <a:latin typeface="Times New Roman" panose="02020603050405020304" pitchFamily="18" charset="0"/>
                <a:cs typeface="Times New Roman" panose="02020603050405020304" pitchFamily="18" charset="0"/>
              </a:rPr>
              <a:t>Actions (6):</a:t>
            </a:r>
            <a:r>
              <a:rPr lang="en-IN" sz="1800" dirty="0">
                <a:latin typeface="Times New Roman" panose="02020603050405020304" pitchFamily="18" charset="0"/>
                <a:cs typeface="Times New Roman" panose="02020603050405020304" pitchFamily="18" charset="0"/>
              </a:rPr>
              <a:t> easier, same, harder, switch topic, deeper follow-up, supportive </a:t>
            </a:r>
          </a:p>
          <a:p>
            <a:pPr lvl="1">
              <a:lnSpc>
                <a:spcPct val="120000"/>
              </a:lnSpc>
            </a:pPr>
            <a:r>
              <a:rPr lang="en-IN" sz="1800" b="1" dirty="0">
                <a:latin typeface="Times New Roman" panose="02020603050405020304" pitchFamily="18" charset="0"/>
                <a:cs typeface="Times New Roman" panose="02020603050405020304" pitchFamily="18" charset="0"/>
              </a:rPr>
              <a:t>PPO Agent:</a:t>
            </a:r>
            <a:r>
              <a:rPr lang="en-IN" sz="1800" dirty="0">
                <a:latin typeface="Times New Roman" panose="02020603050405020304" pitchFamily="18" charset="0"/>
                <a:cs typeface="Times New Roman" panose="02020603050405020304" pitchFamily="18" charset="0"/>
              </a:rPr>
              <a:t> NumPy linear policy; trained 200 episodes on simulated candidates </a:t>
            </a:r>
          </a:p>
          <a:p>
            <a:pPr lvl="1">
              <a:lnSpc>
                <a:spcPct val="120000"/>
              </a:lnSpc>
            </a:pPr>
            <a:r>
              <a:rPr lang="en-IN" sz="1800" b="1" dirty="0">
                <a:latin typeface="Times New Roman" panose="02020603050405020304" pitchFamily="18" charset="0"/>
                <a:cs typeface="Times New Roman" panose="02020603050405020304" pitchFamily="18" charset="0"/>
              </a:rPr>
              <a:t>Guardrails:</a:t>
            </a:r>
            <a:r>
              <a:rPr lang="en-IN" sz="1800" dirty="0">
                <a:latin typeface="Times New Roman" panose="02020603050405020304" pitchFamily="18" charset="0"/>
                <a:cs typeface="Times New Roman" panose="02020603050405020304" pitchFamily="18" charset="0"/>
              </a:rPr>
              <a:t> </a:t>
            </a:r>
          </a:p>
          <a:p>
            <a:pPr lvl="2">
              <a:lnSpc>
                <a:spcPct val="120000"/>
              </a:lnSpc>
            </a:pPr>
            <a:r>
              <a:rPr lang="en-IN" sz="1800" dirty="0">
                <a:latin typeface="Times New Roman" panose="02020603050405020304" pitchFamily="18" charset="0"/>
                <a:cs typeface="Times New Roman" panose="02020603050405020304" pitchFamily="18" charset="0"/>
              </a:rPr>
              <a:t>Stress ≥0.85 → force supportive </a:t>
            </a:r>
          </a:p>
          <a:p>
            <a:pPr lvl="2">
              <a:lnSpc>
                <a:spcPct val="120000"/>
              </a:lnSpc>
            </a:pPr>
            <a:r>
              <a:rPr lang="en-IN" sz="1800" dirty="0">
                <a:latin typeface="Times New Roman" panose="02020603050405020304" pitchFamily="18" charset="0"/>
                <a:cs typeface="Times New Roman" panose="02020603050405020304" pitchFamily="18" charset="0"/>
              </a:rPr>
              <a:t>Performance ≤0.25 → block harder </a:t>
            </a:r>
          </a:p>
          <a:p>
            <a:pPr lvl="2">
              <a:lnSpc>
                <a:spcPct val="120000"/>
              </a:lnSpc>
            </a:pPr>
            <a:r>
              <a:rPr lang="en-IN" sz="1800" dirty="0">
                <a:latin typeface="Times New Roman" panose="02020603050405020304" pitchFamily="18" charset="0"/>
                <a:cs typeface="Times New Roman" panose="02020603050405020304" pitchFamily="18" charset="0"/>
              </a:rPr>
              <a:t>Difficulty cooldown: ≥2 questions between changes</a:t>
            </a:r>
            <a:endParaRPr lang="en-IN" sz="1800" b="1"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AI Proctoring — Modules &amp; Integration</a:t>
            </a:r>
          </a:p>
          <a:p>
            <a:pPr lvl="1">
              <a:lnSpc>
                <a:spcPct val="120000"/>
              </a:lnSpc>
            </a:pPr>
            <a:r>
              <a:rPr lang="en-IN" sz="1800" b="1" dirty="0">
                <a:latin typeface="Times New Roman" panose="02020603050405020304" pitchFamily="18" charset="0"/>
                <a:cs typeface="Times New Roman" panose="02020603050405020304" pitchFamily="18" charset="0"/>
              </a:rPr>
              <a:t>Face Registration:</a:t>
            </a:r>
            <a:r>
              <a:rPr lang="en-IN" sz="1800" dirty="0">
                <a:latin typeface="Times New Roman" panose="02020603050405020304" pitchFamily="18" charset="0"/>
                <a:cs typeface="Times New Roman" panose="02020603050405020304" pitchFamily="18" charset="0"/>
              </a:rPr>
              <a:t> 7 frames captured → </a:t>
            </a:r>
            <a:r>
              <a:rPr lang="en-IN" sz="1800" dirty="0" err="1">
                <a:latin typeface="Times New Roman" panose="02020603050405020304" pitchFamily="18" charset="0"/>
                <a:cs typeface="Times New Roman" panose="02020603050405020304" pitchFamily="18" charset="0"/>
              </a:rPr>
              <a:t>DeepFace</a:t>
            </a:r>
            <a:r>
              <a:rPr lang="en-IN" sz="1800" dirty="0">
                <a:latin typeface="Times New Roman" panose="02020603050405020304" pitchFamily="18" charset="0"/>
                <a:cs typeface="Times New Roman" panose="02020603050405020304" pitchFamily="18" charset="0"/>
              </a:rPr>
              <a:t> (Facenet512) → 512-d embeddings averaged as reference </a:t>
            </a:r>
          </a:p>
          <a:p>
            <a:pPr lvl="1">
              <a:lnSpc>
                <a:spcPct val="120000"/>
              </a:lnSpc>
            </a:pPr>
            <a:r>
              <a:rPr lang="en-IN" sz="1800" b="1" dirty="0">
                <a:latin typeface="Times New Roman" panose="02020603050405020304" pitchFamily="18" charset="0"/>
                <a:cs typeface="Times New Roman" panose="02020603050405020304" pitchFamily="18" charset="0"/>
              </a:rPr>
              <a:t>Identity Check:</a:t>
            </a:r>
            <a:r>
              <a:rPr lang="en-IN" sz="1800" dirty="0">
                <a:latin typeface="Times New Roman" panose="02020603050405020304" pitchFamily="18" charset="0"/>
                <a:cs typeface="Times New Roman" panose="02020603050405020304" pitchFamily="18" charset="0"/>
              </a:rPr>
              <a:t> Every 4s → cosine similarity vs reference (threshold 0.40); skipped if head turned </a:t>
            </a:r>
          </a:p>
          <a:p>
            <a:pPr lvl="1">
              <a:lnSpc>
                <a:spcPct val="120000"/>
              </a:lnSpc>
            </a:pPr>
            <a:r>
              <a:rPr lang="en-IN" sz="1800" b="1" dirty="0">
                <a:latin typeface="Times New Roman" panose="02020603050405020304" pitchFamily="18" charset="0"/>
                <a:cs typeface="Times New Roman" panose="02020603050405020304" pitchFamily="18" charset="0"/>
              </a:rPr>
              <a:t>Object Detection:</a:t>
            </a:r>
            <a:r>
              <a:rPr lang="en-IN" sz="1800" dirty="0">
                <a:latin typeface="Times New Roman" panose="02020603050405020304" pitchFamily="18" charset="0"/>
                <a:cs typeface="Times New Roman" panose="02020603050405020304" pitchFamily="18" charset="0"/>
              </a:rPr>
              <a:t> YOLOv8n detects phone (67), book (73), remote (65); person ≥2% frame area </a:t>
            </a:r>
          </a:p>
          <a:p>
            <a:pPr lvl="1">
              <a:lnSpc>
                <a:spcPct val="120000"/>
              </a:lnSpc>
            </a:pPr>
            <a:r>
              <a:rPr lang="en-IN" sz="1800" b="1" dirty="0">
                <a:latin typeface="Times New Roman" panose="02020603050405020304" pitchFamily="18" charset="0"/>
                <a:cs typeface="Times New Roman" panose="02020603050405020304" pitchFamily="18" charset="0"/>
              </a:rPr>
              <a:t>Multi-person Logic:</a:t>
            </a:r>
            <a:r>
              <a:rPr lang="en-IN" sz="1800" dirty="0">
                <a:latin typeface="Times New Roman" panose="02020603050405020304" pitchFamily="18" charset="0"/>
                <a:cs typeface="Times New Roman" panose="02020603050405020304" pitchFamily="18" charset="0"/>
              </a:rPr>
              <a:t> Violation logged only after 2 consecutive detections </a:t>
            </a:r>
          </a:p>
          <a:p>
            <a:pPr lvl="1">
              <a:lnSpc>
                <a:spcPct val="120000"/>
              </a:lnSpc>
            </a:pPr>
            <a:r>
              <a:rPr lang="en-IN" sz="1800" b="1" dirty="0">
                <a:latin typeface="Times New Roman" panose="02020603050405020304" pitchFamily="18" charset="0"/>
                <a:cs typeface="Times New Roman" panose="02020603050405020304" pitchFamily="18" charset="0"/>
              </a:rPr>
              <a:t>Gaze FSM:</a:t>
            </a:r>
            <a:r>
              <a:rPr lang="en-IN" sz="1800" dirty="0">
                <a:latin typeface="Times New Roman" panose="02020603050405020304" pitchFamily="18" charset="0"/>
                <a:cs typeface="Times New Roman" panose="02020603050405020304" pitchFamily="18" charset="0"/>
              </a:rPr>
              <a:t> ATTENTIVE → WARNING → RECOVERING; trigger if deviation ≥4s (≥70% of 10 frames) </a:t>
            </a:r>
          </a:p>
        </p:txBody>
      </p:sp>
    </p:spTree>
    <p:extLst>
      <p:ext uri="{BB962C8B-B14F-4D97-AF65-F5344CB8AC3E}">
        <p14:creationId xmlns:p14="http://schemas.microsoft.com/office/powerpoint/2010/main" val="1215071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498EC-33ED-7D49-7F73-34AA5C80A970}"/>
              </a:ext>
            </a:extLst>
          </p:cNvPr>
          <p:cNvSpPr>
            <a:spLocks noGrp="1"/>
          </p:cNvSpPr>
          <p:nvPr>
            <p:ph type="title"/>
          </p:nvPr>
        </p:nvSpPr>
        <p:spPr>
          <a:xfrm>
            <a:off x="838200" y="365125"/>
            <a:ext cx="10515600" cy="695579"/>
          </a:xfrm>
        </p:spPr>
        <p:txBody>
          <a:bodyPr>
            <a:normAutofit/>
          </a:bodyPr>
          <a:lstStyle/>
          <a:p>
            <a:r>
              <a:rPr lang="en-IN"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7A082B9C-B97C-37B3-ACD2-3EC29ECF974B}"/>
              </a:ext>
            </a:extLst>
          </p:cNvPr>
          <p:cNvSpPr>
            <a:spLocks noGrp="1"/>
          </p:cNvSpPr>
          <p:nvPr>
            <p:ph idx="1"/>
          </p:nvPr>
        </p:nvSpPr>
        <p:spPr>
          <a:xfrm>
            <a:off x="920496" y="1130046"/>
            <a:ext cx="3587336" cy="4895850"/>
          </a:xfrm>
        </p:spPr>
        <p:txBody>
          <a:bodyPr/>
          <a:lstStyle/>
          <a:p>
            <a:r>
              <a:rPr lang="en-US" b="1" dirty="0">
                <a:latin typeface="Times New Roman" panose="02020603050405020304" pitchFamily="18" charset="0"/>
                <a:cs typeface="Times New Roman" panose="02020603050405020304" pitchFamily="18" charset="0"/>
              </a:rPr>
              <a:t>Landing Page</a:t>
            </a:r>
            <a:r>
              <a:rPr lang="en-US" dirty="0">
                <a:latin typeface="Times New Roman" panose="02020603050405020304" pitchFamily="18" charset="0"/>
                <a:cs typeface="Times New Roman" panose="02020603050405020304" pitchFamily="18" charset="0"/>
              </a:rPr>
              <a:t> Public-facing landing page of </a:t>
            </a:r>
            <a:r>
              <a:rPr lang="en-US" dirty="0" err="1">
                <a:latin typeface="Times New Roman" panose="02020603050405020304" pitchFamily="18" charset="0"/>
                <a:cs typeface="Times New Roman" panose="02020603050405020304" pitchFamily="18" charset="0"/>
              </a:rPr>
              <a:t>InterviewAI</a:t>
            </a:r>
            <a:r>
              <a:rPr lang="en-US" dirty="0">
                <a:latin typeface="Times New Roman" panose="02020603050405020304" pitchFamily="18" charset="0"/>
                <a:cs typeface="Times New Roman" panose="02020603050405020304" pitchFamily="18" charset="0"/>
              </a:rPr>
              <a:t> — supports two modes: student self-practice and corporate HR-conducted interviews</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10B1FF4-AFA5-AE2A-6809-779FAE49D5E6}"/>
              </a:ext>
            </a:extLst>
          </p:cNvPr>
          <p:cNvPicPr>
            <a:picLocks noChangeAspect="1"/>
          </p:cNvPicPr>
          <p:nvPr/>
        </p:nvPicPr>
        <p:blipFill rotWithShape="1">
          <a:blip r:embed="rId2" cstate="print"/>
          <a:srcRect t="14821"/>
          <a:stretch>
            <a:fillRect/>
          </a:stretch>
        </p:blipFill>
        <p:spPr bwMode="auto">
          <a:xfrm>
            <a:off x="5134589" y="1574853"/>
            <a:ext cx="6660849" cy="468429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990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318B6-8A58-F6F2-41F3-088EE7F32D70}"/>
              </a:ext>
            </a:extLst>
          </p:cNvPr>
          <p:cNvSpPr>
            <a:spLocks noGrp="1"/>
          </p:cNvSpPr>
          <p:nvPr>
            <p:ph type="title"/>
          </p:nvPr>
        </p:nvSpPr>
        <p:spPr>
          <a:xfrm>
            <a:off x="838200" y="365126"/>
            <a:ext cx="10515600" cy="709696"/>
          </a:xfrm>
        </p:spPr>
        <p:txBody>
          <a:bodyPr/>
          <a:lstStyle/>
          <a:p>
            <a:pPr algn="l"/>
            <a:r>
              <a:rPr lang="en-IN" dirty="0">
                <a:latin typeface="Times New Roman" panose="02020603050405020304" pitchFamily="18" charset="0"/>
                <a:cs typeface="Times New Roman" panose="02020603050405020304" pitchFamily="18" charset="0"/>
              </a:rPr>
              <a:t>Cont</a:t>
            </a:r>
            <a:r>
              <a:rPr lang="en-IN" dirty="0"/>
              <a:t>..</a:t>
            </a:r>
          </a:p>
        </p:txBody>
      </p:sp>
      <p:sp>
        <p:nvSpPr>
          <p:cNvPr id="3" name="Content Placeholder 2">
            <a:extLst>
              <a:ext uri="{FF2B5EF4-FFF2-40B4-BE49-F238E27FC236}">
                <a16:creationId xmlns:a16="http://schemas.microsoft.com/office/drawing/2014/main" id="{929D6026-8FCB-F402-401D-50EE6AD81078}"/>
              </a:ext>
            </a:extLst>
          </p:cNvPr>
          <p:cNvSpPr>
            <a:spLocks noGrp="1"/>
          </p:cNvSpPr>
          <p:nvPr>
            <p:ph idx="1"/>
          </p:nvPr>
        </p:nvSpPr>
        <p:spPr>
          <a:xfrm>
            <a:off x="838200" y="1253331"/>
            <a:ext cx="3733800" cy="4351338"/>
          </a:xfrm>
        </p:spPr>
        <p:txBody>
          <a:bodyPr/>
          <a:lstStyle/>
          <a:p>
            <a:r>
              <a:rPr lang="en-US" dirty="0">
                <a:latin typeface="Times New Roman" panose="02020603050405020304" pitchFamily="18" charset="0"/>
                <a:cs typeface="Times New Roman" panose="02020603050405020304" pitchFamily="18" charset="0"/>
              </a:rPr>
              <a:t>HR Dashboard helps the HR team see all interview activity in one </a:t>
            </a:r>
            <a:r>
              <a:rPr lang="en-US" dirty="0" err="1">
                <a:latin typeface="Times New Roman" panose="02020603050405020304" pitchFamily="18" charset="0"/>
                <a:cs typeface="Times New Roman" panose="02020603050405020304" pitchFamily="18" charset="0"/>
              </a:rPr>
              <a:t>place.It</a:t>
            </a:r>
            <a:r>
              <a:rPr lang="en-US" dirty="0">
                <a:latin typeface="Times New Roman" panose="02020603050405020304" pitchFamily="18" charset="0"/>
                <a:cs typeface="Times New Roman" panose="02020603050405020304" pitchFamily="18" charset="0"/>
              </a:rPr>
              <a:t> shows candidate status, scores, and pending tasks for quick follow-</a:t>
            </a:r>
            <a:r>
              <a:rPr lang="en-US" dirty="0" err="1">
                <a:latin typeface="Times New Roman" panose="02020603050405020304" pitchFamily="18" charset="0"/>
                <a:cs typeface="Times New Roman" panose="02020603050405020304" pitchFamily="18" charset="0"/>
              </a:rPr>
              <a:t>up.This</a:t>
            </a:r>
            <a:r>
              <a:rPr lang="en-US" dirty="0">
                <a:latin typeface="Times New Roman" panose="02020603050405020304" pitchFamily="18" charset="0"/>
                <a:cs typeface="Times New Roman" panose="02020603050405020304" pitchFamily="18" charset="0"/>
              </a:rPr>
              <a:t> makes hiring faster, clearer, and easier to manage.</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F14315C-97B2-3137-7F68-AF53593F9B89}"/>
              </a:ext>
            </a:extLst>
          </p:cNvPr>
          <p:cNvSpPr txBox="1"/>
          <p:nvPr/>
        </p:nvSpPr>
        <p:spPr>
          <a:xfrm>
            <a:off x="6096000" y="1253331"/>
            <a:ext cx="4620126" cy="3912227"/>
          </a:xfrm>
          <a:prstGeom prst="rect">
            <a:avLst/>
          </a:prstGeom>
          <a:noFill/>
        </p:spPr>
        <p:txBody>
          <a:bodyPr wrap="square" rtlCol="0">
            <a:spAutoFit/>
          </a:bodyPr>
          <a:lstStyle/>
          <a:p>
            <a:endParaRPr lang="en-IN" dirty="0"/>
          </a:p>
        </p:txBody>
      </p:sp>
      <p:pic>
        <p:nvPicPr>
          <p:cNvPr id="6" name="Picture 5">
            <a:extLst>
              <a:ext uri="{FF2B5EF4-FFF2-40B4-BE49-F238E27FC236}">
                <a16:creationId xmlns:a16="http://schemas.microsoft.com/office/drawing/2014/main" id="{4C99DEDC-D730-B220-1AC3-DDC782FAFC29}"/>
              </a:ext>
            </a:extLst>
          </p:cNvPr>
          <p:cNvPicPr>
            <a:picLocks noChangeAspect="1"/>
          </p:cNvPicPr>
          <p:nvPr/>
        </p:nvPicPr>
        <p:blipFill rotWithShape="1">
          <a:blip r:embed="rId2" cstate="print"/>
          <a:srcRect t="14055" b="13010"/>
          <a:stretch>
            <a:fillRect/>
          </a:stretch>
        </p:blipFill>
        <p:spPr bwMode="auto">
          <a:xfrm>
            <a:off x="5117592" y="1253331"/>
            <a:ext cx="6153912" cy="418582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03233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3444C-882C-4D3B-7F8C-BBE5EFB3391F}"/>
              </a:ext>
            </a:extLst>
          </p:cNvPr>
          <p:cNvSpPr>
            <a:spLocks noGrp="1"/>
          </p:cNvSpPr>
          <p:nvPr>
            <p:ph type="title"/>
          </p:nvPr>
        </p:nvSpPr>
        <p:spPr>
          <a:xfrm>
            <a:off x="838200" y="365125"/>
            <a:ext cx="10515600" cy="759587"/>
          </a:xfrm>
        </p:spPr>
        <p:txBody>
          <a:bodyPr/>
          <a:lstStyle/>
          <a:p>
            <a:pPr algn="l"/>
            <a:r>
              <a:rPr lang="en-IN" dirty="0">
                <a:latin typeface="Times New Roman" panose="02020603050405020304" pitchFamily="18" charset="0"/>
                <a:cs typeface="Times New Roman" panose="02020603050405020304" pitchFamily="18" charset="0"/>
              </a:rPr>
              <a:t>Cont</a:t>
            </a:r>
            <a:r>
              <a:rPr lang="en-IN" dirty="0"/>
              <a:t>..</a:t>
            </a:r>
          </a:p>
        </p:txBody>
      </p:sp>
      <p:sp>
        <p:nvSpPr>
          <p:cNvPr id="3" name="Content Placeholder 2">
            <a:extLst>
              <a:ext uri="{FF2B5EF4-FFF2-40B4-BE49-F238E27FC236}">
                <a16:creationId xmlns:a16="http://schemas.microsoft.com/office/drawing/2014/main" id="{908DAEF7-BFE4-C3C7-FF21-88674F003D18}"/>
              </a:ext>
            </a:extLst>
          </p:cNvPr>
          <p:cNvSpPr>
            <a:spLocks noGrp="1"/>
          </p:cNvSpPr>
          <p:nvPr>
            <p:ph idx="1"/>
          </p:nvPr>
        </p:nvSpPr>
        <p:spPr>
          <a:xfrm>
            <a:off x="838200" y="1825625"/>
            <a:ext cx="3624072" cy="4351338"/>
          </a:xfrm>
        </p:spPr>
        <p:txBody>
          <a:bodyPr>
            <a:normAutofit fontScale="85000" lnSpcReduction="10000"/>
          </a:bodyPr>
          <a:lstStyle/>
          <a:p>
            <a:r>
              <a:rPr lang="en-US" sz="2000" dirty="0">
                <a:latin typeface="Times New Roman" panose="02020603050405020304" pitchFamily="18" charset="0"/>
                <a:cs typeface="Times New Roman" panose="02020603050405020304" pitchFamily="18" charset="0"/>
              </a:rPr>
              <a:t>Practice Interview Interface lets users attend a live AI mock interview with real-time video, question prompts, and answer input in one screen.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page tracks communication metrics like attention, stress, clarity, and confidence to give instant performance feedback during the session.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helps candidates improve speaking quality, technical response structure, and interview readiness through continuous AI evaluation.</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456F627-2426-7AD5-0B44-156D9B7AAE64}"/>
              </a:ext>
            </a:extLst>
          </p:cNvPr>
          <p:cNvPicPr>
            <a:picLocks noChangeAspect="1"/>
          </p:cNvPicPr>
          <p:nvPr/>
        </p:nvPicPr>
        <p:blipFill>
          <a:blip r:embed="rId2"/>
          <a:stretch>
            <a:fillRect/>
          </a:stretch>
        </p:blipFill>
        <p:spPr>
          <a:xfrm>
            <a:off x="4702629" y="1698172"/>
            <a:ext cx="6821714" cy="3837214"/>
          </a:xfrm>
          <a:prstGeom prst="rect">
            <a:avLst/>
          </a:prstGeom>
        </p:spPr>
      </p:pic>
    </p:spTree>
    <p:extLst>
      <p:ext uri="{BB962C8B-B14F-4D97-AF65-F5344CB8AC3E}">
        <p14:creationId xmlns:p14="http://schemas.microsoft.com/office/powerpoint/2010/main" val="2643476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B3328-E446-7070-5AFE-B9A10E9499A4}"/>
              </a:ext>
            </a:extLst>
          </p:cNvPr>
          <p:cNvSpPr>
            <a:spLocks noGrp="1"/>
          </p:cNvSpPr>
          <p:nvPr>
            <p:ph type="title"/>
          </p:nvPr>
        </p:nvSpPr>
        <p:spPr>
          <a:xfrm>
            <a:off x="838200" y="365125"/>
            <a:ext cx="10515600" cy="530987"/>
          </a:xfrm>
        </p:spPr>
        <p:txBody>
          <a:bodyPr>
            <a:normAutofit fontScale="90000"/>
          </a:bodyPr>
          <a:lstStyle/>
          <a:p>
            <a:pPr algn="l"/>
            <a:r>
              <a:rPr lang="en-IN" dirty="0">
                <a:latin typeface="Times New Roman" panose="02020603050405020304" pitchFamily="18" charset="0"/>
                <a:cs typeface="Times New Roman" panose="02020603050405020304" pitchFamily="18" charset="0"/>
              </a:rPr>
              <a:t>Cont</a:t>
            </a:r>
            <a:r>
              <a:rPr lang="en-IN" dirty="0"/>
              <a:t>..</a:t>
            </a:r>
          </a:p>
        </p:txBody>
      </p:sp>
      <p:sp>
        <p:nvSpPr>
          <p:cNvPr id="3" name="Content Placeholder 2">
            <a:extLst>
              <a:ext uri="{FF2B5EF4-FFF2-40B4-BE49-F238E27FC236}">
                <a16:creationId xmlns:a16="http://schemas.microsoft.com/office/drawing/2014/main" id="{A4272426-4184-7BBE-C236-147EF148FBEC}"/>
              </a:ext>
            </a:extLst>
          </p:cNvPr>
          <p:cNvSpPr>
            <a:spLocks noGrp="1"/>
          </p:cNvSpPr>
          <p:nvPr>
            <p:ph idx="1"/>
          </p:nvPr>
        </p:nvSpPr>
        <p:spPr>
          <a:xfrm>
            <a:off x="838200" y="1825625"/>
            <a:ext cx="3688080" cy="4351338"/>
          </a:xfrm>
        </p:spPr>
        <p:txBody>
          <a:bodyPr>
            <a:normAutofit fontScale="85000" lnSpcReduction="10000"/>
          </a:bodyPr>
          <a:lstStyle/>
          <a:p>
            <a:r>
              <a:rPr lang="en-US" sz="2000" dirty="0">
                <a:latin typeface="Times New Roman" panose="02020603050405020304" pitchFamily="18" charset="0"/>
                <a:cs typeface="Times New Roman" panose="02020603050405020304" pitchFamily="18" charset="0"/>
              </a:rPr>
              <a:t>Interview Results Dashboard gives a complete summary of candidate performance across technical, HR, and overall evaluation scores.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highlights key communication metrics, confidence level, and skill depth, along with clear strengths and areas that need improvement.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page supports faster hiring decisions by combining recommendation status, score breakdowns, and actionable feedback in one view.</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4D1BE31-1438-0B11-32D4-C6128EE423C2}"/>
              </a:ext>
            </a:extLst>
          </p:cNvPr>
          <p:cNvSpPr txBox="1"/>
          <p:nvPr/>
        </p:nvSpPr>
        <p:spPr>
          <a:xfrm>
            <a:off x="5477256" y="2212848"/>
            <a:ext cx="4965192" cy="3054096"/>
          </a:xfrm>
          <a:prstGeom prst="rect">
            <a:avLst/>
          </a:prstGeom>
          <a:noFill/>
        </p:spPr>
        <p:txBody>
          <a:bodyPr wrap="square" rtlCol="0">
            <a:spAutoFit/>
          </a:bodyPr>
          <a:lstStyle/>
          <a:p>
            <a:endParaRPr lang="en-IN" dirty="0"/>
          </a:p>
        </p:txBody>
      </p:sp>
      <p:pic>
        <p:nvPicPr>
          <p:cNvPr id="5" name="Picture 4">
            <a:extLst>
              <a:ext uri="{FF2B5EF4-FFF2-40B4-BE49-F238E27FC236}">
                <a16:creationId xmlns:a16="http://schemas.microsoft.com/office/drawing/2014/main" id="{F337FDED-BB34-6004-1082-3A1A0AF0519C}"/>
              </a:ext>
            </a:extLst>
          </p:cNvPr>
          <p:cNvPicPr>
            <a:picLocks noChangeAspect="1"/>
          </p:cNvPicPr>
          <p:nvPr/>
        </p:nvPicPr>
        <p:blipFill>
          <a:blip r:embed="rId2" cstate="print"/>
          <a:stretch>
            <a:fillRect/>
          </a:stretch>
        </p:blipFill>
        <p:spPr>
          <a:xfrm>
            <a:off x="5172456" y="1955101"/>
            <a:ext cx="5943600" cy="3569589"/>
          </a:xfrm>
          <a:prstGeom prst="rect">
            <a:avLst/>
          </a:prstGeom>
        </p:spPr>
      </p:pic>
    </p:spTree>
    <p:extLst>
      <p:ext uri="{BB962C8B-B14F-4D97-AF65-F5344CB8AC3E}">
        <p14:creationId xmlns:p14="http://schemas.microsoft.com/office/powerpoint/2010/main" val="1428267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B5AC2-F6FA-E97C-6A9E-D3DEE3D2733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E340A9C3-55A7-7FBC-DEE4-1D12CF9DBD7B}"/>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AI-Based Realistic HR Interview Simulator</a:t>
            </a:r>
            <a:r>
              <a:rPr lang="en-US" dirty="0">
                <a:latin typeface="Times New Roman" panose="02020603050405020304" pitchFamily="18" charset="0"/>
                <a:cs typeface="Times New Roman" panose="02020603050405020304" pitchFamily="18" charset="0"/>
              </a:rPr>
              <a:t> transforms traditional interviews into an intelligent, adaptive, and unbiased process. By integrating technologies like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React.js, YOLOv8, </a:t>
            </a:r>
            <a:r>
              <a:rPr lang="en-US" dirty="0" err="1">
                <a:latin typeface="Times New Roman" panose="02020603050405020304" pitchFamily="18" charset="0"/>
                <a:cs typeface="Times New Roman" panose="02020603050405020304" pitchFamily="18" charset="0"/>
              </a:rPr>
              <a:t>DeepFace</a:t>
            </a:r>
            <a:r>
              <a:rPr lang="en-US" dirty="0">
                <a:latin typeface="Times New Roman" panose="02020603050405020304" pitchFamily="18" charset="0"/>
                <a:cs typeface="Times New Roman" panose="02020603050405020304" pitchFamily="18" charset="0"/>
              </a:rPr>
              <a:t>, and SHAP, the system enables real-time adaptive questioning, multimodal evaluation, and explainable scoring.</a:t>
            </a:r>
          </a:p>
          <a:p>
            <a:pPr algn="just"/>
            <a:r>
              <a:rPr lang="en-US" dirty="0">
                <a:latin typeface="Times New Roman" panose="02020603050405020304" pitchFamily="18" charset="0"/>
                <a:cs typeface="Times New Roman" panose="02020603050405020304" pitchFamily="18" charset="0"/>
              </a:rPr>
              <a:t>It reduces human bias, saves HR screening time, and provides structured, actionable feedback for candidates. Overall, the project delivers a scalable, transparent, and future-ready AI-driven interview solution.</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2085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E6BE86B-EA08-394F-DC0E-ACFC41EEC300}"/>
              </a:ext>
            </a:extLst>
          </p:cNvPr>
          <p:cNvSpPr txBox="1"/>
          <p:nvPr/>
        </p:nvSpPr>
        <p:spPr>
          <a:xfrm>
            <a:off x="4242816" y="2782669"/>
            <a:ext cx="3941064"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ANY QUERIES?</a:t>
            </a:r>
          </a:p>
        </p:txBody>
      </p:sp>
    </p:spTree>
    <p:extLst>
      <p:ext uri="{BB962C8B-B14F-4D97-AF65-F5344CB8AC3E}">
        <p14:creationId xmlns:p14="http://schemas.microsoft.com/office/powerpoint/2010/main" val="1299151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3A8DC6-8203-881D-6D0F-1D573980214C}"/>
              </a:ext>
            </a:extLst>
          </p:cNvPr>
          <p:cNvSpPr txBox="1"/>
          <p:nvPr/>
        </p:nvSpPr>
        <p:spPr>
          <a:xfrm>
            <a:off x="4352544" y="2782669"/>
            <a:ext cx="2980944"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7526818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932</TotalTime>
  <Words>1824</Words>
  <Application>Microsoft Office PowerPoint</Application>
  <PresentationFormat>Widescreen</PresentationFormat>
  <Paragraphs>169</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Bookman Old Style</vt:lpstr>
      <vt:lpstr>Rockwell</vt:lpstr>
      <vt:lpstr>Times New Roman</vt:lpstr>
      <vt:lpstr>Wingdings</vt:lpstr>
      <vt:lpstr>Damask</vt:lpstr>
      <vt:lpstr>AI-Based Realistic HR Interview Simulator </vt:lpstr>
      <vt:lpstr>Contents</vt:lpstr>
      <vt:lpstr>Abstract</vt:lpstr>
      <vt:lpstr>Problem Statement</vt:lpstr>
      <vt:lpstr>Existing System</vt:lpstr>
      <vt:lpstr>Research Gap </vt:lpstr>
      <vt:lpstr>Proposed system</vt:lpstr>
      <vt:lpstr>Cont…</vt:lpstr>
      <vt:lpstr>Design</vt:lpstr>
      <vt:lpstr>Cont..</vt:lpstr>
      <vt:lpstr>Cont..</vt:lpstr>
      <vt:lpstr>Implementation</vt:lpstr>
      <vt:lpstr>Cont..</vt:lpstr>
      <vt:lpstr>Cont..</vt:lpstr>
      <vt:lpstr>Cont..</vt:lpstr>
      <vt:lpstr>Results</vt:lpstr>
      <vt:lpstr>Cont..</vt:lpstr>
      <vt:lpstr>Cont..</vt:lpstr>
      <vt:lpstr>Cont..</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KUPPIREDDY HARSHA VARDHAN</dc:creator>
  <cp:lastModifiedBy>KUPPIREDDY HARSHA VARDHAN</cp:lastModifiedBy>
  <cp:revision>20</cp:revision>
  <dcterms:created xsi:type="dcterms:W3CDTF">2026-03-30T06:49:56Z</dcterms:created>
  <dcterms:modified xsi:type="dcterms:W3CDTF">2026-04-02T07:11:18Z</dcterms:modified>
</cp:coreProperties>
</file>